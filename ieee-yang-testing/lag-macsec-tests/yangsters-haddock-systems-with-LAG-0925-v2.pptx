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82" r:id="rId2"/>
    <p:sldId id="383" r:id="rId3"/>
    <p:sldId id="389" r:id="rId4"/>
    <p:sldId id="390" r:id="rId5"/>
    <p:sldId id="392" r:id="rId6"/>
    <p:sldId id="393" r:id="rId7"/>
    <p:sldId id="395" r:id="rId8"/>
    <p:sldId id="398" r:id="rId9"/>
    <p:sldId id="402" r:id="rId10"/>
    <p:sldId id="408" r:id="rId11"/>
    <p:sldId id="403" r:id="rId12"/>
    <p:sldId id="406" r:id="rId13"/>
    <p:sldId id="405" r:id="rId14"/>
    <p:sldId id="401" r:id="rId15"/>
    <p:sldId id="407" r:id="rId16"/>
    <p:sldId id="396" r:id="rId17"/>
    <p:sldId id="404" r:id="rId18"/>
    <p:sldId id="38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ephen Haddock" initials="SH" lastIdx="5" clrIdx="0"/>
  <p:cmAuthor id="1" name="Stephen Haddock" initials="srh" lastIdx="10" clrIdx="1">
    <p:extLst>
      <p:ext uri="{19B8F6BF-5375-455C-9EA6-DF929625EA0E}">
        <p15:presenceInfo xmlns:p15="http://schemas.microsoft.com/office/powerpoint/2012/main" userId="Stephen Haddoc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9" autoAdjust="0"/>
    <p:restoredTop sz="94627" autoAdjust="0"/>
  </p:normalViewPr>
  <p:slideViewPr>
    <p:cSldViewPr>
      <p:cViewPr varScale="1">
        <p:scale>
          <a:sx n="92" d="100"/>
          <a:sy n="92" d="100"/>
        </p:scale>
        <p:origin x="12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AA43C-EBF5-4A06-BE38-33FB2E4DC268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A0064-0B89-48BD-AB5E-2F975ABA4F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64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9DC7FBE-A7F4-4A8A-AB66-EE2FE683F33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01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7D54D-88F7-459D-ACE0-94825ABE4DE1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D080B-F5C7-461C-BC56-86E1D15D9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 txBox="1">
            <a:spLocks noGrp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2051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en-US" sz="1400"/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2438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YANG models for</a:t>
            </a:r>
            <a:br>
              <a:rPr lang="en-US" dirty="0"/>
            </a:br>
            <a:r>
              <a:rPr lang="en-US" dirty="0"/>
              <a:t>Systems with Link Aggregation</a:t>
            </a:r>
            <a:br>
              <a:rPr lang="en-US" dirty="0"/>
            </a:br>
            <a:br>
              <a:rPr lang="en-US" dirty="0"/>
            </a:br>
            <a:br>
              <a:rPr lang="en-US" sz="2400" dirty="0"/>
            </a:br>
            <a:endParaRPr lang="en-US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3500" y="4786312"/>
            <a:ext cx="6400800" cy="1752600"/>
          </a:xfrm>
        </p:spPr>
        <p:txBody>
          <a:bodyPr/>
          <a:lstStyle/>
          <a:p>
            <a:pPr eaLnBrk="1" hangingPunct="1"/>
            <a:endParaRPr lang="en-US" sz="2000" dirty="0"/>
          </a:p>
          <a:p>
            <a:r>
              <a:rPr lang="en-US" sz="2000" dirty="0"/>
              <a:t>Scott Mansfield</a:t>
            </a:r>
          </a:p>
          <a:p>
            <a:pPr eaLnBrk="1" hangingPunct="1"/>
            <a:r>
              <a:rPr lang="en-US" sz="2000" dirty="0"/>
              <a:t>Stephen Haddock</a:t>
            </a:r>
          </a:p>
          <a:p>
            <a:pPr eaLnBrk="1" hangingPunct="1"/>
            <a:r>
              <a:rPr lang="en-US" sz="2000" dirty="0"/>
              <a:t>October 6, 2025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B79864EF-63EB-468D-8377-8E8CFFA1509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This presentation provides a simple example of modifying the YANG model for a system without Link Aggregation to a system with Link Aggregation.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bridge is used as an example system, however adapting this to a system with different functionality simply involves replacing bridge-specific containers with appropriate containers for the other system functionality.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YANG configuration files in JSON and XML are provided for the examples.</a:t>
            </a:r>
          </a:p>
        </p:txBody>
      </p:sp>
    </p:spTree>
    <p:extLst>
      <p:ext uri="{BB962C8B-B14F-4D97-AF65-F5344CB8AC3E}">
        <p14:creationId xmlns:p14="http://schemas.microsoft.com/office/powerpoint/2010/main" val="1844766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CB0A-A09E-5411-7FEB-3DE066B6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4073A-98E4-B73B-45F1-A2F23E5EA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59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Connect two generic boxes with a single link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Convert the connection to a Link Aggregation Group (LAG)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2ABB37-FE20-B97F-5CB5-81F43DCE55DE}"/>
              </a:ext>
            </a:extLst>
          </p:cNvPr>
          <p:cNvSpPr/>
          <p:nvPr/>
        </p:nvSpPr>
        <p:spPr>
          <a:xfrm>
            <a:off x="1828800" y="2514600"/>
            <a:ext cx="17526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C25C9C-5B14-B7D7-7E4E-0933E85FB56A}"/>
              </a:ext>
            </a:extLst>
          </p:cNvPr>
          <p:cNvSpPr/>
          <p:nvPr/>
        </p:nvSpPr>
        <p:spPr>
          <a:xfrm>
            <a:off x="5486400" y="2514600"/>
            <a:ext cx="17526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35BD6-4FE3-DD9E-8F72-44995BD22530}"/>
              </a:ext>
            </a:extLst>
          </p:cNvPr>
          <p:cNvCxnSpPr>
            <a:stCxn id="4" idx="1"/>
          </p:cNvCxnSpPr>
          <p:nvPr/>
        </p:nvCxnSpPr>
        <p:spPr>
          <a:xfrm flipH="1">
            <a:off x="914400" y="29718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C8B8CF-D79F-4D42-AAD0-57F0ADE396B5}"/>
              </a:ext>
            </a:extLst>
          </p:cNvPr>
          <p:cNvCxnSpPr/>
          <p:nvPr/>
        </p:nvCxnSpPr>
        <p:spPr>
          <a:xfrm flipH="1">
            <a:off x="7239000" y="29718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0F5D9D-4D62-2460-9FB2-9E5162CC3897}"/>
              </a:ext>
            </a:extLst>
          </p:cNvPr>
          <p:cNvCxnSpPr>
            <a:cxnSpLocks/>
          </p:cNvCxnSpPr>
          <p:nvPr/>
        </p:nvCxnSpPr>
        <p:spPr>
          <a:xfrm flipH="1">
            <a:off x="3581400" y="2971800"/>
            <a:ext cx="190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1A22537-FB6C-D5C3-8995-4CC3D78DEB8E}"/>
              </a:ext>
            </a:extLst>
          </p:cNvPr>
          <p:cNvSpPr txBox="1"/>
          <p:nvPr/>
        </p:nvSpPr>
        <p:spPr>
          <a:xfrm>
            <a:off x="2318828" y="2771001"/>
            <a:ext cx="80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 1a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C455DE-65AD-7F13-59FD-26FF91244AC9}"/>
              </a:ext>
            </a:extLst>
          </p:cNvPr>
          <p:cNvSpPr txBox="1"/>
          <p:nvPr/>
        </p:nvSpPr>
        <p:spPr>
          <a:xfrm>
            <a:off x="6085456" y="2771001"/>
            <a:ext cx="80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 2a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D9576F-3080-A127-A06F-27C7C35A0CCB}"/>
              </a:ext>
            </a:extLst>
          </p:cNvPr>
          <p:cNvSpPr/>
          <p:nvPr/>
        </p:nvSpPr>
        <p:spPr>
          <a:xfrm>
            <a:off x="1828800" y="5257800"/>
            <a:ext cx="17526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B3004D-B34E-5C0E-764F-D61194CB52F9}"/>
              </a:ext>
            </a:extLst>
          </p:cNvPr>
          <p:cNvSpPr/>
          <p:nvPr/>
        </p:nvSpPr>
        <p:spPr>
          <a:xfrm>
            <a:off x="5486400" y="5257800"/>
            <a:ext cx="17526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6AABE3-8CCB-0C28-3B17-6B3A83882E7B}"/>
              </a:ext>
            </a:extLst>
          </p:cNvPr>
          <p:cNvCxnSpPr>
            <a:stCxn id="17" idx="1"/>
          </p:cNvCxnSpPr>
          <p:nvPr/>
        </p:nvCxnSpPr>
        <p:spPr>
          <a:xfrm flipH="1">
            <a:off x="914400" y="57150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EF99A8-D40D-1AAD-3FD0-1DE750308106}"/>
              </a:ext>
            </a:extLst>
          </p:cNvPr>
          <p:cNvCxnSpPr/>
          <p:nvPr/>
        </p:nvCxnSpPr>
        <p:spPr>
          <a:xfrm flipH="1">
            <a:off x="7239000" y="57150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84BC31C-8D4A-EEBC-9D4A-6A89121C0E6D}"/>
              </a:ext>
            </a:extLst>
          </p:cNvPr>
          <p:cNvCxnSpPr>
            <a:cxnSpLocks/>
          </p:cNvCxnSpPr>
          <p:nvPr/>
        </p:nvCxnSpPr>
        <p:spPr>
          <a:xfrm flipH="1">
            <a:off x="3581400" y="5562600"/>
            <a:ext cx="190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35EC780-8980-7C26-E688-2E430D9B2D45}"/>
              </a:ext>
            </a:extLst>
          </p:cNvPr>
          <p:cNvSpPr txBox="1"/>
          <p:nvPr/>
        </p:nvSpPr>
        <p:spPr>
          <a:xfrm>
            <a:off x="2318828" y="5514201"/>
            <a:ext cx="818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 1b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E5EB8B-73DF-1717-2F35-62049FA90A67}"/>
              </a:ext>
            </a:extLst>
          </p:cNvPr>
          <p:cNvSpPr txBox="1"/>
          <p:nvPr/>
        </p:nvSpPr>
        <p:spPr>
          <a:xfrm>
            <a:off x="6085456" y="5514201"/>
            <a:ext cx="818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 2b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414156-261D-7BAB-C7B0-83FB81EFDD4D}"/>
              </a:ext>
            </a:extLst>
          </p:cNvPr>
          <p:cNvCxnSpPr>
            <a:cxnSpLocks/>
          </p:cNvCxnSpPr>
          <p:nvPr/>
        </p:nvCxnSpPr>
        <p:spPr>
          <a:xfrm flipH="1">
            <a:off x="3581400" y="5867400"/>
            <a:ext cx="190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4E0BAEE1-E081-8EC9-5DFA-8789BADC5CA8}"/>
              </a:ext>
            </a:extLst>
          </p:cNvPr>
          <p:cNvSpPr/>
          <p:nvPr/>
        </p:nvSpPr>
        <p:spPr>
          <a:xfrm>
            <a:off x="4419600" y="5334000"/>
            <a:ext cx="76200" cy="6857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88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580C-B14D-FA86-D747-810F1418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8669"/>
            <a:ext cx="8229600" cy="1143000"/>
          </a:xfrm>
        </p:spPr>
        <p:txBody>
          <a:bodyPr/>
          <a:lstStyle/>
          <a:p>
            <a:r>
              <a:rPr lang="en-US" dirty="0"/>
              <a:t>Assume the boxes are bridges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35E9-4CD0-06F1-567F-2599944E5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523" y="1600200"/>
            <a:ext cx="4519277" cy="480059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Box 1a “baggy pants” diagram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MAC Relay has two ports.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Each MAC attached to a port on the relay.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Box 1b “baggy pants” diagram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MAC Relay still has two ports.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MAC-1 attached directly to the relay.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MAC-2 and MAC-3 each attach to an Aggregation Port in a Link Aggregation Sublayer.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The Link Aggregation Sublayer has a single Aggregator that attaches to the relay.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046E05-61F8-D690-A79E-557CAD88A115}"/>
              </a:ext>
            </a:extLst>
          </p:cNvPr>
          <p:cNvSpPr/>
          <p:nvPr/>
        </p:nvSpPr>
        <p:spPr>
          <a:xfrm>
            <a:off x="914400" y="3962400"/>
            <a:ext cx="28956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93AD0-F1A4-A9AA-98E5-E06AD776CAF5}"/>
              </a:ext>
            </a:extLst>
          </p:cNvPr>
          <p:cNvSpPr txBox="1"/>
          <p:nvPr/>
        </p:nvSpPr>
        <p:spPr>
          <a:xfrm>
            <a:off x="1752600" y="4114800"/>
            <a:ext cx="1189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Box 1b</a:t>
            </a:r>
          </a:p>
          <a:p>
            <a:pPr algn="ctr"/>
            <a:r>
              <a:rPr lang="en-US" dirty="0"/>
              <a:t>MAC Relay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1DCFC6-7187-BEFC-E423-8D70B60AFFCC}"/>
              </a:ext>
            </a:extLst>
          </p:cNvPr>
          <p:cNvSpPr/>
          <p:nvPr/>
        </p:nvSpPr>
        <p:spPr>
          <a:xfrm>
            <a:off x="1981200" y="4876799"/>
            <a:ext cx="1828800" cy="641865"/>
          </a:xfrm>
          <a:prstGeom prst="rect">
            <a:avLst/>
          </a:prstGeom>
          <a:noFill/>
          <a:ln>
            <a:solidFill>
              <a:srgbClr val="33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424DFB-A71D-2310-5BB6-07E93A8CD036}"/>
              </a:ext>
            </a:extLst>
          </p:cNvPr>
          <p:cNvCxnSpPr/>
          <p:nvPr/>
        </p:nvCxnSpPr>
        <p:spPr>
          <a:xfrm>
            <a:off x="1981200" y="5181600"/>
            <a:ext cx="1828800" cy="0"/>
          </a:xfrm>
          <a:prstGeom prst="line">
            <a:avLst/>
          </a:prstGeom>
          <a:ln>
            <a:solidFill>
              <a:srgbClr val="3399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8E96FF7-ABF6-1F8C-C923-EBA66E679FB3}"/>
              </a:ext>
            </a:extLst>
          </p:cNvPr>
          <p:cNvSpPr txBox="1"/>
          <p:nvPr/>
        </p:nvSpPr>
        <p:spPr>
          <a:xfrm>
            <a:off x="2399256" y="4876800"/>
            <a:ext cx="11059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3399FF"/>
                </a:solidFill>
              </a:rPr>
              <a:t>Aggregator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87E938-954F-5443-6D83-42A2A2E44CA7}"/>
              </a:ext>
            </a:extLst>
          </p:cNvPr>
          <p:cNvCxnSpPr>
            <a:cxnSpLocks/>
          </p:cNvCxnSpPr>
          <p:nvPr/>
        </p:nvCxnSpPr>
        <p:spPr>
          <a:xfrm>
            <a:off x="2895600" y="5181600"/>
            <a:ext cx="0" cy="304800"/>
          </a:xfrm>
          <a:prstGeom prst="line">
            <a:avLst/>
          </a:prstGeom>
          <a:ln>
            <a:solidFill>
              <a:srgbClr val="3399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A6E1427-5E70-C793-26CB-2D834DBE090B}"/>
              </a:ext>
            </a:extLst>
          </p:cNvPr>
          <p:cNvSpPr txBox="1"/>
          <p:nvPr/>
        </p:nvSpPr>
        <p:spPr>
          <a:xfrm>
            <a:off x="1981200" y="5181600"/>
            <a:ext cx="895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3399FF"/>
                </a:solidFill>
              </a:rPr>
              <a:t>Agg 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BEA6D-66FE-0C02-BAC1-F14107F0F582}"/>
              </a:ext>
            </a:extLst>
          </p:cNvPr>
          <p:cNvSpPr txBox="1"/>
          <p:nvPr/>
        </p:nvSpPr>
        <p:spPr>
          <a:xfrm>
            <a:off x="2914177" y="5181600"/>
            <a:ext cx="895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3399FF"/>
                </a:solidFill>
              </a:rPr>
              <a:t>Agg 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34278B-A3E9-9A34-5E6D-991787F8D9B0}"/>
              </a:ext>
            </a:extLst>
          </p:cNvPr>
          <p:cNvSpPr/>
          <p:nvPr/>
        </p:nvSpPr>
        <p:spPr>
          <a:xfrm>
            <a:off x="914400" y="4876800"/>
            <a:ext cx="762000" cy="1219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3A2615-87B0-024F-41D0-18970D135714}"/>
              </a:ext>
            </a:extLst>
          </p:cNvPr>
          <p:cNvSpPr/>
          <p:nvPr/>
        </p:nvSpPr>
        <p:spPr>
          <a:xfrm>
            <a:off x="1981200" y="5518664"/>
            <a:ext cx="762000" cy="577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ED9625-2CC6-5EF9-4A3C-7C0816039BC7}"/>
              </a:ext>
            </a:extLst>
          </p:cNvPr>
          <p:cNvSpPr/>
          <p:nvPr/>
        </p:nvSpPr>
        <p:spPr>
          <a:xfrm>
            <a:off x="3048000" y="5518668"/>
            <a:ext cx="762000" cy="577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6F03E9-0F19-E98C-12B7-40334F492475}"/>
              </a:ext>
            </a:extLst>
          </p:cNvPr>
          <p:cNvSpPr/>
          <p:nvPr/>
        </p:nvSpPr>
        <p:spPr>
          <a:xfrm>
            <a:off x="1524000" y="1600200"/>
            <a:ext cx="18288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68A2A5-626C-8066-5C74-DE168D34845A}"/>
              </a:ext>
            </a:extLst>
          </p:cNvPr>
          <p:cNvSpPr txBox="1"/>
          <p:nvPr/>
        </p:nvSpPr>
        <p:spPr>
          <a:xfrm>
            <a:off x="1782435" y="1676400"/>
            <a:ext cx="1189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Box 1a</a:t>
            </a:r>
          </a:p>
          <a:p>
            <a:pPr algn="ctr"/>
            <a:r>
              <a:rPr lang="en-US" dirty="0"/>
              <a:t>MAC Relay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F82403-3533-B3B7-9868-C11A13063F66}"/>
              </a:ext>
            </a:extLst>
          </p:cNvPr>
          <p:cNvSpPr/>
          <p:nvPr/>
        </p:nvSpPr>
        <p:spPr>
          <a:xfrm>
            <a:off x="1524000" y="2514600"/>
            <a:ext cx="762000" cy="577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377145-296D-260B-D36D-AF90B55C21A6}"/>
              </a:ext>
            </a:extLst>
          </p:cNvPr>
          <p:cNvSpPr/>
          <p:nvPr/>
        </p:nvSpPr>
        <p:spPr>
          <a:xfrm>
            <a:off x="2590800" y="2514604"/>
            <a:ext cx="762000" cy="577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B6E938-619F-E62F-F564-AFA2D37EEA32}"/>
              </a:ext>
            </a:extLst>
          </p:cNvPr>
          <p:cNvSpPr txBox="1"/>
          <p:nvPr/>
        </p:nvSpPr>
        <p:spPr>
          <a:xfrm>
            <a:off x="1538000" y="2590800"/>
            <a:ext cx="82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MAC-1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5C30A7-CB88-8B82-5E78-11E12CD4E495}"/>
              </a:ext>
            </a:extLst>
          </p:cNvPr>
          <p:cNvSpPr txBox="1"/>
          <p:nvPr/>
        </p:nvSpPr>
        <p:spPr>
          <a:xfrm>
            <a:off x="914400" y="5650468"/>
            <a:ext cx="82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EE4961-4381-CFC8-A507-A549923C1F9B}"/>
              </a:ext>
            </a:extLst>
          </p:cNvPr>
          <p:cNvSpPr txBox="1"/>
          <p:nvPr/>
        </p:nvSpPr>
        <p:spPr>
          <a:xfrm>
            <a:off x="2528600" y="2590800"/>
            <a:ext cx="82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MAC-2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C47264-A2DF-8872-0CFF-CA05913A9054}"/>
              </a:ext>
            </a:extLst>
          </p:cNvPr>
          <p:cNvSpPr txBox="1"/>
          <p:nvPr/>
        </p:nvSpPr>
        <p:spPr>
          <a:xfrm>
            <a:off x="1995200" y="5650468"/>
            <a:ext cx="82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MAC-2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799B03-F503-78F5-0786-609A6B48167D}"/>
              </a:ext>
            </a:extLst>
          </p:cNvPr>
          <p:cNvSpPr txBox="1"/>
          <p:nvPr/>
        </p:nvSpPr>
        <p:spPr>
          <a:xfrm>
            <a:off x="2985800" y="5650468"/>
            <a:ext cx="82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MAC-3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1B9D47-7110-766C-2D18-0ECC764CCE33}"/>
              </a:ext>
            </a:extLst>
          </p:cNvPr>
          <p:cNvSpPr txBox="1"/>
          <p:nvPr/>
        </p:nvSpPr>
        <p:spPr>
          <a:xfrm>
            <a:off x="3195500" y="5334000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A847B4-8CFA-6F54-C548-2ADF7DD69D5C}"/>
              </a:ext>
            </a:extLst>
          </p:cNvPr>
          <p:cNvSpPr txBox="1"/>
          <p:nvPr/>
        </p:nvSpPr>
        <p:spPr>
          <a:xfrm>
            <a:off x="1823900" y="2328446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F9427-FEE9-0062-F287-6927F6662AB1}"/>
              </a:ext>
            </a:extLst>
          </p:cNvPr>
          <p:cNvSpPr txBox="1"/>
          <p:nvPr/>
        </p:nvSpPr>
        <p:spPr>
          <a:xfrm>
            <a:off x="2738300" y="2328446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7ABF2F-E97A-C530-1F74-093C3D0D7075}"/>
              </a:ext>
            </a:extLst>
          </p:cNvPr>
          <p:cNvSpPr txBox="1"/>
          <p:nvPr/>
        </p:nvSpPr>
        <p:spPr>
          <a:xfrm>
            <a:off x="1138100" y="4690646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530092-1CB6-8061-09C8-DAEA90FFFA82}"/>
              </a:ext>
            </a:extLst>
          </p:cNvPr>
          <p:cNvSpPr txBox="1"/>
          <p:nvPr/>
        </p:nvSpPr>
        <p:spPr>
          <a:xfrm>
            <a:off x="2738300" y="4690646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A35848-6B8D-E073-A8AC-4026815C4B22}"/>
              </a:ext>
            </a:extLst>
          </p:cNvPr>
          <p:cNvSpPr txBox="1"/>
          <p:nvPr/>
        </p:nvSpPr>
        <p:spPr>
          <a:xfrm>
            <a:off x="2281100" y="5334000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8EE0874-ABF7-3003-2FAA-525D7E68A755}"/>
              </a:ext>
            </a:extLst>
          </p:cNvPr>
          <p:cNvCxnSpPr>
            <a:cxnSpLocks/>
          </p:cNvCxnSpPr>
          <p:nvPr/>
        </p:nvCxnSpPr>
        <p:spPr>
          <a:xfrm flipH="1">
            <a:off x="3429000" y="6400798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7574F7B-B2EC-2A2E-C7AA-F84CEE378DCB}"/>
              </a:ext>
            </a:extLst>
          </p:cNvPr>
          <p:cNvCxnSpPr>
            <a:cxnSpLocks/>
          </p:cNvCxnSpPr>
          <p:nvPr/>
        </p:nvCxnSpPr>
        <p:spPr>
          <a:xfrm flipH="1">
            <a:off x="2362200" y="6553200"/>
            <a:ext cx="1828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07E9524A-33CF-621E-7E74-A0290D16E688}"/>
              </a:ext>
            </a:extLst>
          </p:cNvPr>
          <p:cNvSpPr/>
          <p:nvPr/>
        </p:nvSpPr>
        <p:spPr>
          <a:xfrm>
            <a:off x="3962400" y="6248400"/>
            <a:ext cx="76200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CD03CB3-F0A5-AE3E-F734-DA8CA13B9406}"/>
              </a:ext>
            </a:extLst>
          </p:cNvPr>
          <p:cNvCxnSpPr>
            <a:cxnSpLocks/>
          </p:cNvCxnSpPr>
          <p:nvPr/>
        </p:nvCxnSpPr>
        <p:spPr>
          <a:xfrm flipH="1">
            <a:off x="533400" y="6400800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044208-4857-48D4-4C3C-D101DF1AC138}"/>
              </a:ext>
            </a:extLst>
          </p:cNvPr>
          <p:cNvCxnSpPr>
            <a:cxnSpLocks/>
          </p:cNvCxnSpPr>
          <p:nvPr/>
        </p:nvCxnSpPr>
        <p:spPr>
          <a:xfrm>
            <a:off x="1295400" y="60960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D9B526F-05EB-AB8F-13ED-118B18F258D3}"/>
              </a:ext>
            </a:extLst>
          </p:cNvPr>
          <p:cNvCxnSpPr>
            <a:cxnSpLocks/>
          </p:cNvCxnSpPr>
          <p:nvPr/>
        </p:nvCxnSpPr>
        <p:spPr>
          <a:xfrm>
            <a:off x="3429000" y="60960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8CE5F11-CB25-9228-6263-D0A78141D8B4}"/>
              </a:ext>
            </a:extLst>
          </p:cNvPr>
          <p:cNvCxnSpPr>
            <a:cxnSpLocks/>
          </p:cNvCxnSpPr>
          <p:nvPr/>
        </p:nvCxnSpPr>
        <p:spPr>
          <a:xfrm>
            <a:off x="2362200" y="6096000"/>
            <a:ext cx="0" cy="4572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D34CD9B-08F2-EE7B-41D6-486006CC582B}"/>
              </a:ext>
            </a:extLst>
          </p:cNvPr>
          <p:cNvCxnSpPr>
            <a:cxnSpLocks/>
          </p:cNvCxnSpPr>
          <p:nvPr/>
        </p:nvCxnSpPr>
        <p:spPr>
          <a:xfrm flipH="1">
            <a:off x="2971800" y="3428996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C1863AD-E4E6-7589-55D5-C2718D0BB04D}"/>
              </a:ext>
            </a:extLst>
          </p:cNvPr>
          <p:cNvCxnSpPr>
            <a:cxnSpLocks/>
          </p:cNvCxnSpPr>
          <p:nvPr/>
        </p:nvCxnSpPr>
        <p:spPr>
          <a:xfrm flipH="1">
            <a:off x="1143000" y="3428998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D3F60A0-40AC-B867-5F9F-8F5CFB866E09}"/>
              </a:ext>
            </a:extLst>
          </p:cNvPr>
          <p:cNvCxnSpPr>
            <a:cxnSpLocks/>
          </p:cNvCxnSpPr>
          <p:nvPr/>
        </p:nvCxnSpPr>
        <p:spPr>
          <a:xfrm>
            <a:off x="1905000" y="3124198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FB2C10F-B9E8-F841-609B-4D242E3B5F1B}"/>
              </a:ext>
            </a:extLst>
          </p:cNvPr>
          <p:cNvCxnSpPr>
            <a:cxnSpLocks/>
          </p:cNvCxnSpPr>
          <p:nvPr/>
        </p:nvCxnSpPr>
        <p:spPr>
          <a:xfrm>
            <a:off x="2971800" y="3124198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82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EAB62-899F-4D96-74F4-8F3210BF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87B9929-E3B5-EA83-CB28-5A0BDB89870B}"/>
              </a:ext>
            </a:extLst>
          </p:cNvPr>
          <p:cNvSpPr/>
          <p:nvPr/>
        </p:nvSpPr>
        <p:spPr>
          <a:xfrm>
            <a:off x="457200" y="2438400"/>
            <a:ext cx="1611511" cy="1107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00EDEE4-F8D6-8D0D-4053-ACDA31410C2E}"/>
              </a:ext>
            </a:extLst>
          </p:cNvPr>
          <p:cNvCxnSpPr>
            <a:cxnSpLocks/>
          </p:cNvCxnSpPr>
          <p:nvPr/>
        </p:nvCxnSpPr>
        <p:spPr>
          <a:xfrm flipH="1">
            <a:off x="3276600" y="3886198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FF86E26-9F92-0A16-8996-97F0226DA35E}"/>
              </a:ext>
            </a:extLst>
          </p:cNvPr>
          <p:cNvCxnSpPr>
            <a:cxnSpLocks/>
          </p:cNvCxnSpPr>
          <p:nvPr/>
        </p:nvCxnSpPr>
        <p:spPr>
          <a:xfrm flipH="1">
            <a:off x="457200" y="3886200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E53D23B-54AF-96B8-043B-77987839101F}"/>
              </a:ext>
            </a:extLst>
          </p:cNvPr>
          <p:cNvCxnSpPr>
            <a:cxnSpLocks/>
          </p:cNvCxnSpPr>
          <p:nvPr/>
        </p:nvCxnSpPr>
        <p:spPr>
          <a:xfrm>
            <a:off x="1219200" y="35814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E9F8B46-78C3-856F-887B-8C6EAB0675FF}"/>
              </a:ext>
            </a:extLst>
          </p:cNvPr>
          <p:cNvCxnSpPr>
            <a:cxnSpLocks/>
          </p:cNvCxnSpPr>
          <p:nvPr/>
        </p:nvCxnSpPr>
        <p:spPr>
          <a:xfrm>
            <a:off x="3276600" y="35814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67A4774-BB4F-57DF-7F30-9145073FF522}"/>
              </a:ext>
            </a:extLst>
          </p:cNvPr>
          <p:cNvSpPr txBox="1"/>
          <p:nvPr/>
        </p:nvSpPr>
        <p:spPr>
          <a:xfrm>
            <a:off x="473414" y="2467070"/>
            <a:ext cx="15594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bridge-port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A56FD1-A102-B003-34D5-133F7E0ABCD7}"/>
              </a:ext>
            </a:extLst>
          </p:cNvPr>
          <p:cNvSpPr/>
          <p:nvPr/>
        </p:nvSpPr>
        <p:spPr>
          <a:xfrm>
            <a:off x="1371603" y="931402"/>
            <a:ext cx="1752597" cy="11259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DDB904F-84C0-0ABF-E425-C2C7F2AF98FE}"/>
              </a:ext>
            </a:extLst>
          </p:cNvPr>
          <p:cNvSpPr/>
          <p:nvPr/>
        </p:nvSpPr>
        <p:spPr>
          <a:xfrm>
            <a:off x="1511865" y="1283733"/>
            <a:ext cx="1459938" cy="697467"/>
          </a:xfrm>
          <a:prstGeom prst="rect">
            <a:avLst/>
          </a:prstGeom>
          <a:noFill/>
          <a:ln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5DAFA1-151A-34C2-6AC4-BE9E32CD6EBA}"/>
              </a:ext>
            </a:extLst>
          </p:cNvPr>
          <p:cNvSpPr txBox="1"/>
          <p:nvPr/>
        </p:nvSpPr>
        <p:spPr>
          <a:xfrm>
            <a:off x="1846293" y="1280134"/>
            <a:ext cx="79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bridge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8028FC-035A-8846-97C9-05EFEA3445E0}"/>
              </a:ext>
            </a:extLst>
          </p:cNvPr>
          <p:cNvSpPr/>
          <p:nvPr/>
        </p:nvSpPr>
        <p:spPr>
          <a:xfrm>
            <a:off x="1616418" y="1586426"/>
            <a:ext cx="1266860" cy="304798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7514D7-1572-4551-4AFF-B83174A03AD6}"/>
              </a:ext>
            </a:extLst>
          </p:cNvPr>
          <p:cNvSpPr txBox="1"/>
          <p:nvPr/>
        </p:nvSpPr>
        <p:spPr>
          <a:xfrm>
            <a:off x="1676590" y="1552670"/>
            <a:ext cx="1142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component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1EA1C38-EC63-E4E7-3C96-20BEB9331239}"/>
              </a:ext>
            </a:extLst>
          </p:cNvPr>
          <p:cNvSpPr/>
          <p:nvPr/>
        </p:nvSpPr>
        <p:spPr>
          <a:xfrm>
            <a:off x="2427089" y="2438400"/>
            <a:ext cx="1611511" cy="1107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3CC9ED-AD7C-531C-5E16-D86044A0492D}"/>
              </a:ext>
            </a:extLst>
          </p:cNvPr>
          <p:cNvSpPr txBox="1"/>
          <p:nvPr/>
        </p:nvSpPr>
        <p:spPr>
          <a:xfrm>
            <a:off x="2443303" y="2467070"/>
            <a:ext cx="15594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bridge-port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MAC-2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3D27C5A-62AC-4C5B-9950-552BFBF12182}"/>
              </a:ext>
            </a:extLst>
          </p:cNvPr>
          <p:cNvCxnSpPr>
            <a:cxnSpLocks/>
          </p:cNvCxnSpPr>
          <p:nvPr/>
        </p:nvCxnSpPr>
        <p:spPr>
          <a:xfrm flipH="1">
            <a:off x="1295400" y="1773446"/>
            <a:ext cx="533400" cy="817354"/>
          </a:xfrm>
          <a:prstGeom prst="line">
            <a:avLst/>
          </a:prstGeom>
          <a:ln w="25400">
            <a:solidFill>
              <a:srgbClr val="00B050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2769336-265F-CA5F-7B5A-8C927AA4F661}"/>
              </a:ext>
            </a:extLst>
          </p:cNvPr>
          <p:cNvCxnSpPr>
            <a:cxnSpLocks/>
          </p:cNvCxnSpPr>
          <p:nvPr/>
        </p:nvCxnSpPr>
        <p:spPr>
          <a:xfrm>
            <a:off x="2667000" y="1797148"/>
            <a:ext cx="533400" cy="793652"/>
          </a:xfrm>
          <a:prstGeom prst="line">
            <a:avLst/>
          </a:prstGeom>
          <a:ln w="25400">
            <a:solidFill>
              <a:srgbClr val="00B050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8639094-31AA-0086-186C-1DD61CCEFDDA}"/>
              </a:ext>
            </a:extLst>
          </p:cNvPr>
          <p:cNvSpPr txBox="1"/>
          <p:nvPr/>
        </p:nvSpPr>
        <p:spPr>
          <a:xfrm>
            <a:off x="1219200" y="457200"/>
            <a:ext cx="2044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 1a YANG Model</a:t>
            </a:r>
          </a:p>
        </p:txBody>
      </p:sp>
      <p:sp>
        <p:nvSpPr>
          <p:cNvPr id="95" name="Speech Bubble: Rectangle with Corners Rounded 94">
            <a:extLst>
              <a:ext uri="{FF2B5EF4-FFF2-40B4-BE49-F238E27FC236}">
                <a16:creationId xmlns:a16="http://schemas.microsoft.com/office/drawing/2014/main" id="{B4ADCA43-5C77-8E85-C3C2-36D84A515EE7}"/>
              </a:ext>
            </a:extLst>
          </p:cNvPr>
          <p:cNvSpPr/>
          <p:nvPr/>
        </p:nvSpPr>
        <p:spPr>
          <a:xfrm>
            <a:off x="356230" y="4267200"/>
            <a:ext cx="2082170" cy="1412786"/>
          </a:xfrm>
          <a:prstGeom prst="wedgeRoundRectCallout">
            <a:avLst>
              <a:gd name="adj1" fmla="val 20747"/>
              <a:gd name="adj2" fmla="val -100685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Interface of type ethernetCsmacd augmented with ethernet and bridge-port containers</a:t>
            </a:r>
          </a:p>
        </p:txBody>
      </p:sp>
      <p:sp>
        <p:nvSpPr>
          <p:cNvPr id="98" name="Speech Bubble: Rectangle with Corners Rounded 97">
            <a:extLst>
              <a:ext uri="{FF2B5EF4-FFF2-40B4-BE49-F238E27FC236}">
                <a16:creationId xmlns:a16="http://schemas.microsoft.com/office/drawing/2014/main" id="{716ACAE9-20F0-72DC-D549-D51829470F31}"/>
              </a:ext>
            </a:extLst>
          </p:cNvPr>
          <p:cNvSpPr/>
          <p:nvPr/>
        </p:nvSpPr>
        <p:spPr>
          <a:xfrm>
            <a:off x="4472956" y="848982"/>
            <a:ext cx="2044983" cy="1354218"/>
          </a:xfrm>
          <a:prstGeom prst="wedgeRoundRectCallout">
            <a:avLst>
              <a:gd name="adj1" fmla="val -115166"/>
              <a:gd name="adj2" fmla="val -1982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bridges list containing a single bridge, in turn containing a single component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F24D2A-62E6-A3B3-B3A9-6354FA2F501F}"/>
              </a:ext>
            </a:extLst>
          </p:cNvPr>
          <p:cNvSpPr txBox="1"/>
          <p:nvPr/>
        </p:nvSpPr>
        <p:spPr>
          <a:xfrm>
            <a:off x="1828800" y="914400"/>
            <a:ext cx="79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bridges</a:t>
            </a:r>
          </a:p>
        </p:txBody>
      </p:sp>
      <p:sp>
        <p:nvSpPr>
          <p:cNvPr id="89" name="Speech Bubble: Rectangle with Corners Rounded 88">
            <a:extLst>
              <a:ext uri="{FF2B5EF4-FFF2-40B4-BE49-F238E27FC236}">
                <a16:creationId xmlns:a16="http://schemas.microsoft.com/office/drawing/2014/main" id="{E12CF78C-B7C4-483D-76C4-E9A530A46A0F}"/>
              </a:ext>
            </a:extLst>
          </p:cNvPr>
          <p:cNvSpPr/>
          <p:nvPr/>
        </p:nvSpPr>
        <p:spPr>
          <a:xfrm>
            <a:off x="356230" y="4267200"/>
            <a:ext cx="2082170" cy="1412786"/>
          </a:xfrm>
          <a:prstGeom prst="wedgeRoundRectCallout">
            <a:avLst>
              <a:gd name="adj1" fmla="val 58589"/>
              <a:gd name="adj2" fmla="val -9930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interface of type ethernetCsmacd augmented with ethernet and bridge-port containers</a:t>
            </a:r>
          </a:p>
        </p:txBody>
      </p:sp>
      <p:sp>
        <p:nvSpPr>
          <p:cNvPr id="91" name="Speech Bubble: Rectangle with Corners Rounded 90">
            <a:extLst>
              <a:ext uri="{FF2B5EF4-FFF2-40B4-BE49-F238E27FC236}">
                <a16:creationId xmlns:a16="http://schemas.microsoft.com/office/drawing/2014/main" id="{EE882429-37B2-08C1-36B2-78AEBAA05195}"/>
              </a:ext>
            </a:extLst>
          </p:cNvPr>
          <p:cNvSpPr/>
          <p:nvPr/>
        </p:nvSpPr>
        <p:spPr>
          <a:xfrm>
            <a:off x="5037675" y="2405521"/>
            <a:ext cx="2353717" cy="1354218"/>
          </a:xfrm>
          <a:prstGeom prst="wedgeRoundRectCallout">
            <a:avLst>
              <a:gd name="adj1" fmla="val -137484"/>
              <a:gd name="adj2" fmla="val -67349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bridge-port container includes a leaf that points to the component to which this interface is attached</a:t>
            </a:r>
          </a:p>
        </p:txBody>
      </p:sp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992A2E6C-01E3-FB03-1EBE-948FDEB807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395434"/>
              </p:ext>
            </p:extLst>
          </p:nvPr>
        </p:nvGraphicFramePr>
        <p:xfrm>
          <a:off x="7632135" y="137979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14400" imgH="771525" progId="Package">
                  <p:embed/>
                </p:oleObj>
              </mc:Choice>
              <mc:Fallback>
                <p:oleObj name="Packager Shell Object" showAsIcon="1" r:id="rId2" imgW="914400" imgH="77152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32135" y="137979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F50D4129-A89F-B287-3FFE-8B4AE402AC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241684"/>
              </p:ext>
            </p:extLst>
          </p:nvPr>
        </p:nvGraphicFramePr>
        <p:xfrm>
          <a:off x="6876095" y="72272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914400" imgH="771525" progId="Package">
                  <p:embed/>
                </p:oleObj>
              </mc:Choice>
              <mc:Fallback>
                <p:oleObj name="Packager Shell Object" showAsIcon="1" r:id="rId4" imgW="914400" imgH="77152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76095" y="72272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173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AF13D-BC72-9017-A2D9-91E343602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3A34D823-DB77-999C-8216-0EACE85B8E64}"/>
              </a:ext>
            </a:extLst>
          </p:cNvPr>
          <p:cNvSpPr/>
          <p:nvPr/>
        </p:nvSpPr>
        <p:spPr>
          <a:xfrm>
            <a:off x="2541608" y="4706772"/>
            <a:ext cx="1921466" cy="1354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C18D15-7A07-D444-EDEE-22136F057DE3}"/>
              </a:ext>
            </a:extLst>
          </p:cNvPr>
          <p:cNvSpPr txBox="1"/>
          <p:nvPr/>
        </p:nvSpPr>
        <p:spPr>
          <a:xfrm>
            <a:off x="2516836" y="4741783"/>
            <a:ext cx="194623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inhibit-bridge-port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</a:t>
            </a:r>
            <a:r>
              <a:rPr lang="en-US" sz="1600" dirty="0" err="1">
                <a:solidFill>
                  <a:srgbClr val="3399FF"/>
                </a:solidFill>
              </a:rPr>
              <a:t>aggport</a:t>
            </a:r>
            <a:r>
              <a:rPr lang="en-US" sz="1600" dirty="0">
                <a:solidFill>
                  <a:srgbClr val="3399FF"/>
                </a:solidFill>
              </a:rPr>
              <a:t>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MAC-2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0924641-1A60-F2BE-BA4B-EBB4395222F8}"/>
              </a:ext>
            </a:extLst>
          </p:cNvPr>
          <p:cNvCxnSpPr>
            <a:cxnSpLocks/>
          </p:cNvCxnSpPr>
          <p:nvPr/>
        </p:nvCxnSpPr>
        <p:spPr>
          <a:xfrm flipH="1">
            <a:off x="1726698" y="1813534"/>
            <a:ext cx="1611511" cy="3291866"/>
          </a:xfrm>
          <a:prstGeom prst="line">
            <a:avLst/>
          </a:prstGeom>
          <a:ln w="25400">
            <a:solidFill>
              <a:srgbClr val="00B050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5EBE799-1C59-E6B4-12FB-AAA572286CD7}"/>
              </a:ext>
            </a:extLst>
          </p:cNvPr>
          <p:cNvCxnSpPr>
            <a:cxnSpLocks/>
          </p:cNvCxnSpPr>
          <p:nvPr/>
        </p:nvCxnSpPr>
        <p:spPr>
          <a:xfrm>
            <a:off x="4291100" y="1813534"/>
            <a:ext cx="612708" cy="1767866"/>
          </a:xfrm>
          <a:prstGeom prst="line">
            <a:avLst/>
          </a:prstGeom>
          <a:ln w="25400">
            <a:solidFill>
              <a:srgbClr val="00B050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86EDA1E5-6CDC-C889-F632-08EF7C02C967}"/>
              </a:ext>
            </a:extLst>
          </p:cNvPr>
          <p:cNvSpPr/>
          <p:nvPr/>
        </p:nvSpPr>
        <p:spPr>
          <a:xfrm>
            <a:off x="789008" y="4953000"/>
            <a:ext cx="1611511" cy="11079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49132AA-26BE-F50A-0793-03C15A66A23F}"/>
              </a:ext>
            </a:extLst>
          </p:cNvPr>
          <p:cNvCxnSpPr>
            <a:cxnSpLocks/>
          </p:cNvCxnSpPr>
          <p:nvPr/>
        </p:nvCxnSpPr>
        <p:spPr>
          <a:xfrm flipH="1">
            <a:off x="789008" y="6400800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E429685-FDC8-6742-BF59-2BDF9AFD6DFA}"/>
              </a:ext>
            </a:extLst>
          </p:cNvPr>
          <p:cNvCxnSpPr>
            <a:cxnSpLocks/>
          </p:cNvCxnSpPr>
          <p:nvPr/>
        </p:nvCxnSpPr>
        <p:spPr>
          <a:xfrm>
            <a:off x="1551008" y="60960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84C9A83-628E-80EE-E16A-DFFE67AEDBB1}"/>
              </a:ext>
            </a:extLst>
          </p:cNvPr>
          <p:cNvSpPr txBox="1"/>
          <p:nvPr/>
        </p:nvSpPr>
        <p:spPr>
          <a:xfrm>
            <a:off x="805222" y="4981670"/>
            <a:ext cx="15594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bridge-port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DEB4598-F68B-3A91-9960-01609B060A3A}"/>
              </a:ext>
            </a:extLst>
          </p:cNvPr>
          <p:cNvCxnSpPr>
            <a:cxnSpLocks/>
          </p:cNvCxnSpPr>
          <p:nvPr/>
        </p:nvCxnSpPr>
        <p:spPr>
          <a:xfrm flipH="1">
            <a:off x="5742008" y="6400798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95663A3-0438-9D07-0E03-E0C5E70CE6CC}"/>
              </a:ext>
            </a:extLst>
          </p:cNvPr>
          <p:cNvCxnSpPr>
            <a:cxnSpLocks/>
          </p:cNvCxnSpPr>
          <p:nvPr/>
        </p:nvCxnSpPr>
        <p:spPr>
          <a:xfrm flipH="1">
            <a:off x="3837008" y="6553200"/>
            <a:ext cx="2667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986AE483-55F6-7B25-332A-87FC526F2BD9}"/>
              </a:ext>
            </a:extLst>
          </p:cNvPr>
          <p:cNvSpPr/>
          <p:nvPr/>
        </p:nvSpPr>
        <p:spPr>
          <a:xfrm>
            <a:off x="6275408" y="6248400"/>
            <a:ext cx="76200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CC04686-55EA-0087-FC88-9B06827BFD91}"/>
              </a:ext>
            </a:extLst>
          </p:cNvPr>
          <p:cNvCxnSpPr>
            <a:cxnSpLocks/>
          </p:cNvCxnSpPr>
          <p:nvPr/>
        </p:nvCxnSpPr>
        <p:spPr>
          <a:xfrm>
            <a:off x="5742008" y="60960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FFD7F7E-F6C8-2014-AF13-2AC59EB62EF9}"/>
              </a:ext>
            </a:extLst>
          </p:cNvPr>
          <p:cNvCxnSpPr>
            <a:cxnSpLocks/>
          </p:cNvCxnSpPr>
          <p:nvPr/>
        </p:nvCxnSpPr>
        <p:spPr>
          <a:xfrm>
            <a:off x="3837008" y="6096000"/>
            <a:ext cx="0" cy="4572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A9ABA4ED-B6CE-F750-E967-BDB177F3DDA8}"/>
              </a:ext>
            </a:extLst>
          </p:cNvPr>
          <p:cNvSpPr/>
          <p:nvPr/>
        </p:nvSpPr>
        <p:spPr>
          <a:xfrm>
            <a:off x="4623780" y="4706772"/>
            <a:ext cx="1921466" cy="1354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7792AB8-397A-D414-81AD-39EF1548B442}"/>
              </a:ext>
            </a:extLst>
          </p:cNvPr>
          <p:cNvSpPr txBox="1"/>
          <p:nvPr/>
        </p:nvSpPr>
        <p:spPr>
          <a:xfrm>
            <a:off x="4599008" y="4741783"/>
            <a:ext cx="194623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inhibit-bridge-port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</a:t>
            </a:r>
            <a:r>
              <a:rPr lang="en-US" sz="1600" dirty="0" err="1">
                <a:solidFill>
                  <a:srgbClr val="3399FF"/>
                </a:solidFill>
              </a:rPr>
              <a:t>aggport</a:t>
            </a:r>
            <a:r>
              <a:rPr lang="en-US" sz="1600" dirty="0">
                <a:solidFill>
                  <a:srgbClr val="3399FF"/>
                </a:solidFill>
              </a:rPr>
              <a:t>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MAC-3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48B80B8-1B11-6A1F-D58C-5C57A59E1B7A}"/>
              </a:ext>
            </a:extLst>
          </p:cNvPr>
          <p:cNvCxnSpPr>
            <a:cxnSpLocks/>
          </p:cNvCxnSpPr>
          <p:nvPr/>
        </p:nvCxnSpPr>
        <p:spPr>
          <a:xfrm>
            <a:off x="5208608" y="4264098"/>
            <a:ext cx="304800" cy="460302"/>
          </a:xfrm>
          <a:prstGeom prst="line">
            <a:avLst/>
          </a:prstGeom>
          <a:ln w="38100">
            <a:solidFill>
              <a:srgbClr val="3399FF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3FF7A57-4F5D-56E5-1135-ECF8963C0F8F}"/>
              </a:ext>
            </a:extLst>
          </p:cNvPr>
          <p:cNvCxnSpPr>
            <a:cxnSpLocks/>
          </p:cNvCxnSpPr>
          <p:nvPr/>
        </p:nvCxnSpPr>
        <p:spPr>
          <a:xfrm flipH="1">
            <a:off x="3456008" y="4302210"/>
            <a:ext cx="1142997" cy="401460"/>
          </a:xfrm>
          <a:prstGeom prst="line">
            <a:avLst/>
          </a:prstGeom>
          <a:ln w="38100">
            <a:solidFill>
              <a:srgbClr val="3399FF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Speech Bubble: Rectangle with Corners Rounded 94">
            <a:extLst>
              <a:ext uri="{FF2B5EF4-FFF2-40B4-BE49-F238E27FC236}">
                <a16:creationId xmlns:a16="http://schemas.microsoft.com/office/drawing/2014/main" id="{BC680F4E-01F6-877E-989A-E3DD72676D23}"/>
              </a:ext>
            </a:extLst>
          </p:cNvPr>
          <p:cNvSpPr/>
          <p:nvPr/>
        </p:nvSpPr>
        <p:spPr>
          <a:xfrm>
            <a:off x="182534" y="822934"/>
            <a:ext cx="2359074" cy="1068288"/>
          </a:xfrm>
          <a:prstGeom prst="wedgeRoundRectCallout">
            <a:avLst>
              <a:gd name="adj1" fmla="val 78528"/>
              <a:gd name="adj2" fmla="val 44469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Still have two interfaces with bridge-port containers pointing to the bridge component</a:t>
            </a:r>
          </a:p>
        </p:txBody>
      </p:sp>
      <p:sp>
        <p:nvSpPr>
          <p:cNvPr id="98" name="Speech Bubble: Rectangle with Corners Rounded 97">
            <a:extLst>
              <a:ext uri="{FF2B5EF4-FFF2-40B4-BE49-F238E27FC236}">
                <a16:creationId xmlns:a16="http://schemas.microsoft.com/office/drawing/2014/main" id="{B41A9B71-9FD6-AF80-9755-859AAC0B0A88}"/>
              </a:ext>
            </a:extLst>
          </p:cNvPr>
          <p:cNvSpPr/>
          <p:nvPr/>
        </p:nvSpPr>
        <p:spPr>
          <a:xfrm>
            <a:off x="5029200" y="339875"/>
            <a:ext cx="2009942" cy="1354218"/>
          </a:xfrm>
          <a:prstGeom prst="wedgeRoundRectCallout">
            <a:avLst>
              <a:gd name="adj1" fmla="val -36778"/>
              <a:gd name="adj2" fmla="val 17759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Add interface of type ieee8023adLag augmented with lag and bridge-port containers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005DDA-4237-785B-D6BD-AF80E111D124}"/>
              </a:ext>
            </a:extLst>
          </p:cNvPr>
          <p:cNvSpPr/>
          <p:nvPr/>
        </p:nvSpPr>
        <p:spPr>
          <a:xfrm>
            <a:off x="2929687" y="2058609"/>
            <a:ext cx="1752597" cy="941818"/>
          </a:xfrm>
          <a:prstGeom prst="rect">
            <a:avLst/>
          </a:prstGeom>
          <a:noFill/>
          <a:ln>
            <a:solidFill>
              <a:srgbClr val="33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7186C5-C539-CF62-9AA3-08EBDAE1327F}"/>
              </a:ext>
            </a:extLst>
          </p:cNvPr>
          <p:cNvSpPr/>
          <p:nvPr/>
        </p:nvSpPr>
        <p:spPr>
          <a:xfrm>
            <a:off x="3151208" y="2330548"/>
            <a:ext cx="1266860" cy="276256"/>
          </a:xfrm>
          <a:prstGeom prst="rect">
            <a:avLst/>
          </a:prstGeom>
          <a:noFill/>
          <a:ln>
            <a:solidFill>
              <a:srgbClr val="3399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798A4A-8F91-D8B1-0B34-13F739AE33BC}"/>
              </a:ext>
            </a:extLst>
          </p:cNvPr>
          <p:cNvSpPr txBox="1"/>
          <p:nvPr/>
        </p:nvSpPr>
        <p:spPr>
          <a:xfrm>
            <a:off x="3211193" y="2306846"/>
            <a:ext cx="113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3399FF"/>
                </a:solidFill>
              </a:rPr>
              <a:t>agg</a:t>
            </a:r>
            <a:r>
              <a:rPr lang="en-US" sz="1600" dirty="0">
                <a:solidFill>
                  <a:srgbClr val="3399FF"/>
                </a:solidFill>
              </a:rPr>
              <a:t>-system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CE9B3-DC31-370D-643F-B40A90C9160A}"/>
              </a:ext>
            </a:extLst>
          </p:cNvPr>
          <p:cNvSpPr/>
          <p:nvPr/>
        </p:nvSpPr>
        <p:spPr>
          <a:xfrm>
            <a:off x="3151208" y="2613138"/>
            <a:ext cx="1266860" cy="304798"/>
          </a:xfrm>
          <a:prstGeom prst="rect">
            <a:avLst/>
          </a:prstGeom>
          <a:noFill/>
          <a:ln>
            <a:solidFill>
              <a:srgbClr val="3399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AE2D89-9697-1DE4-68AB-D38D7AD7093E}"/>
              </a:ext>
            </a:extLst>
          </p:cNvPr>
          <p:cNvSpPr txBox="1"/>
          <p:nvPr/>
        </p:nvSpPr>
        <p:spPr>
          <a:xfrm>
            <a:off x="3274475" y="2579382"/>
            <a:ext cx="1016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3399FF"/>
                </a:solidFill>
              </a:rPr>
              <a:t>key-group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B2D3DB-FFAE-B1B7-A205-70DE3CAA80E5}"/>
              </a:ext>
            </a:extLst>
          </p:cNvPr>
          <p:cNvSpPr txBox="1"/>
          <p:nvPr/>
        </p:nvSpPr>
        <p:spPr>
          <a:xfrm>
            <a:off x="3402617" y="2003536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3399FF"/>
                </a:solidFill>
              </a:rPr>
              <a:t>linkagg</a:t>
            </a:r>
            <a:endParaRPr lang="en-US" sz="1600" dirty="0">
              <a:solidFill>
                <a:srgbClr val="3399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07508E-CE9E-1DBC-9D57-A531FD136F96}"/>
              </a:ext>
            </a:extLst>
          </p:cNvPr>
          <p:cNvSpPr/>
          <p:nvPr/>
        </p:nvSpPr>
        <p:spPr>
          <a:xfrm>
            <a:off x="2922610" y="931402"/>
            <a:ext cx="1752597" cy="11259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43F18A-DFBA-9335-4C8F-5C89D6B6AD48}"/>
              </a:ext>
            </a:extLst>
          </p:cNvPr>
          <p:cNvSpPr/>
          <p:nvPr/>
        </p:nvSpPr>
        <p:spPr>
          <a:xfrm>
            <a:off x="3062872" y="1283733"/>
            <a:ext cx="1459938" cy="697467"/>
          </a:xfrm>
          <a:prstGeom prst="rect">
            <a:avLst/>
          </a:prstGeom>
          <a:noFill/>
          <a:ln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277088-3E6F-4A2D-1F25-A6827BD1821D}"/>
              </a:ext>
            </a:extLst>
          </p:cNvPr>
          <p:cNvSpPr txBox="1"/>
          <p:nvPr/>
        </p:nvSpPr>
        <p:spPr>
          <a:xfrm>
            <a:off x="3397300" y="1280134"/>
            <a:ext cx="79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bridge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6C294F-9C22-07E0-19A6-66B407783571}"/>
              </a:ext>
            </a:extLst>
          </p:cNvPr>
          <p:cNvSpPr/>
          <p:nvPr/>
        </p:nvSpPr>
        <p:spPr>
          <a:xfrm>
            <a:off x="3167425" y="1586426"/>
            <a:ext cx="1266860" cy="304798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0699BF-F036-F9FE-D13B-CBC626868382}"/>
              </a:ext>
            </a:extLst>
          </p:cNvPr>
          <p:cNvSpPr txBox="1"/>
          <p:nvPr/>
        </p:nvSpPr>
        <p:spPr>
          <a:xfrm>
            <a:off x="3227597" y="1552670"/>
            <a:ext cx="1142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component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9D30B5-EAD7-63D4-42E4-B603D8EB70E2}"/>
              </a:ext>
            </a:extLst>
          </p:cNvPr>
          <p:cNvSpPr txBox="1"/>
          <p:nvPr/>
        </p:nvSpPr>
        <p:spPr>
          <a:xfrm>
            <a:off x="3379807" y="914400"/>
            <a:ext cx="79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bridges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4F1FC1-49A2-394A-EF9D-7B5DB8B9A839}"/>
              </a:ext>
            </a:extLst>
          </p:cNvPr>
          <p:cNvSpPr txBox="1"/>
          <p:nvPr/>
        </p:nvSpPr>
        <p:spPr>
          <a:xfrm>
            <a:off x="2782625" y="457200"/>
            <a:ext cx="2056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 1b YANG Model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F893F1A-7212-CB5A-1AF6-0AFFA952DA86}"/>
              </a:ext>
            </a:extLst>
          </p:cNvPr>
          <p:cNvCxnSpPr>
            <a:cxnSpLocks/>
          </p:cNvCxnSpPr>
          <p:nvPr/>
        </p:nvCxnSpPr>
        <p:spPr>
          <a:xfrm>
            <a:off x="4218008" y="2819400"/>
            <a:ext cx="612708" cy="965904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1915FB6-AB60-56FD-2164-290F395625AC}"/>
              </a:ext>
            </a:extLst>
          </p:cNvPr>
          <p:cNvCxnSpPr>
            <a:cxnSpLocks/>
          </p:cNvCxnSpPr>
          <p:nvPr/>
        </p:nvCxnSpPr>
        <p:spPr>
          <a:xfrm>
            <a:off x="3913208" y="2816298"/>
            <a:ext cx="1524000" cy="2289102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AAC2890-79E1-3034-5C3C-A6BE492A1077}"/>
              </a:ext>
            </a:extLst>
          </p:cNvPr>
          <p:cNvCxnSpPr>
            <a:cxnSpLocks/>
          </p:cNvCxnSpPr>
          <p:nvPr/>
        </p:nvCxnSpPr>
        <p:spPr>
          <a:xfrm flipH="1">
            <a:off x="3397300" y="2835404"/>
            <a:ext cx="58708" cy="2269996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068BACFD-84D0-C372-1E6D-0225DEEEFC35}"/>
              </a:ext>
            </a:extLst>
          </p:cNvPr>
          <p:cNvSpPr/>
          <p:nvPr/>
        </p:nvSpPr>
        <p:spPr>
          <a:xfrm>
            <a:off x="4054297" y="3404431"/>
            <a:ext cx="1611511" cy="862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7BDB26E-1257-0B91-F40C-4CF4E0D024EE}"/>
              </a:ext>
            </a:extLst>
          </p:cNvPr>
          <p:cNvSpPr txBox="1"/>
          <p:nvPr/>
        </p:nvSpPr>
        <p:spPr>
          <a:xfrm>
            <a:off x="4129533" y="3433101"/>
            <a:ext cx="1441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lag ]</a:t>
            </a:r>
          </a:p>
          <a:p>
            <a:pPr algn="ctr"/>
            <a:r>
              <a:rPr lang="en-US" sz="1600" dirty="0"/>
              <a:t>ieee8023adLag</a:t>
            </a:r>
          </a:p>
        </p:txBody>
      </p:sp>
      <p:sp>
        <p:nvSpPr>
          <p:cNvPr id="30" name="Speech Bubble: Rectangle with Corners Rounded 29">
            <a:extLst>
              <a:ext uri="{FF2B5EF4-FFF2-40B4-BE49-F238E27FC236}">
                <a16:creationId xmlns:a16="http://schemas.microsoft.com/office/drawing/2014/main" id="{BC2E4EC6-4E9C-0C0D-9544-1BD708EFD8E4}"/>
              </a:ext>
            </a:extLst>
          </p:cNvPr>
          <p:cNvSpPr/>
          <p:nvPr/>
        </p:nvSpPr>
        <p:spPr>
          <a:xfrm>
            <a:off x="6753431" y="4622076"/>
            <a:ext cx="2258992" cy="1769840"/>
          </a:xfrm>
          <a:prstGeom prst="wedgeRoundRectCallout">
            <a:avLst>
              <a:gd name="adj1" fmla="val -58529"/>
              <a:gd name="adj2" fmla="val -17691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MACs in LAG are interfaces of type ethernetCsmacd augmented with ethernet, </a:t>
            </a:r>
            <a:r>
              <a:rPr lang="en-US" sz="1600" dirty="0" err="1">
                <a:solidFill>
                  <a:schemeClr val="tx1"/>
                </a:solidFill>
              </a:rPr>
              <a:t>aggport</a:t>
            </a:r>
            <a:r>
              <a:rPr lang="en-US" sz="1600" dirty="0">
                <a:solidFill>
                  <a:schemeClr val="tx1"/>
                </a:solidFill>
              </a:rPr>
              <a:t>, and inhibit-bridge-port containers</a:t>
            </a:r>
          </a:p>
        </p:txBody>
      </p:sp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F5F92113-5515-4E16-5937-E25EE2550640}"/>
              </a:ext>
            </a:extLst>
          </p:cNvPr>
          <p:cNvSpPr/>
          <p:nvPr/>
        </p:nvSpPr>
        <p:spPr>
          <a:xfrm>
            <a:off x="6067844" y="1850549"/>
            <a:ext cx="2698915" cy="1047729"/>
          </a:xfrm>
          <a:prstGeom prst="wedgeRoundRectCallout">
            <a:avLst>
              <a:gd name="adj1" fmla="val -24677"/>
              <a:gd name="adj2" fmla="val 4689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aggport</a:t>
            </a:r>
            <a:r>
              <a:rPr lang="en-US" sz="1600" dirty="0">
                <a:solidFill>
                  <a:schemeClr val="tx1"/>
                </a:solidFill>
              </a:rPr>
              <a:t> and lag containers include a leaf pointing to the key-group to which theses interfaces are assigned</a:t>
            </a: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ED15BD92-0E30-4FA1-58D0-A20C8E3EE2D8}"/>
              </a:ext>
            </a:extLst>
          </p:cNvPr>
          <p:cNvSpPr/>
          <p:nvPr/>
        </p:nvSpPr>
        <p:spPr>
          <a:xfrm>
            <a:off x="5856699" y="3030567"/>
            <a:ext cx="3155725" cy="1523805"/>
          </a:xfrm>
          <a:prstGeom prst="wedgeRoundRectCallout">
            <a:avLst>
              <a:gd name="adj1" fmla="val -63895"/>
              <a:gd name="adj2" fmla="val 45065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Linkages between </a:t>
            </a:r>
            <a:r>
              <a:rPr lang="en-US" sz="1600" dirty="0" err="1">
                <a:solidFill>
                  <a:schemeClr val="tx1"/>
                </a:solidFill>
              </a:rPr>
              <a:t>aggport</a:t>
            </a:r>
            <a:r>
              <a:rPr lang="en-US" sz="1600" dirty="0">
                <a:solidFill>
                  <a:schemeClr val="tx1"/>
                </a:solidFill>
              </a:rPr>
              <a:t> and lag containers are not configured. They are established dynamically by LACP, and readable in the interface higher-layer-if and lower-layer-if lists.</a:t>
            </a:r>
          </a:p>
        </p:txBody>
      </p: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FAEC0A25-16D8-C33D-4B82-B522DD278B0B}"/>
              </a:ext>
            </a:extLst>
          </p:cNvPr>
          <p:cNvSpPr/>
          <p:nvPr/>
        </p:nvSpPr>
        <p:spPr>
          <a:xfrm>
            <a:off x="533400" y="2132112"/>
            <a:ext cx="1921466" cy="1354208"/>
          </a:xfrm>
          <a:prstGeom prst="wedgeRoundRectCallout">
            <a:avLst>
              <a:gd name="adj1" fmla="val 74478"/>
              <a:gd name="adj2" fmla="val -35265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Add </a:t>
            </a:r>
            <a:r>
              <a:rPr lang="en-US" sz="1600" dirty="0" err="1">
                <a:solidFill>
                  <a:schemeClr val="tx1"/>
                </a:solidFill>
              </a:rPr>
              <a:t>linkagg</a:t>
            </a:r>
            <a:r>
              <a:rPr lang="en-US" sz="1600" dirty="0">
                <a:solidFill>
                  <a:schemeClr val="tx1"/>
                </a:solidFill>
              </a:rPr>
              <a:t> container with a single </a:t>
            </a:r>
            <a:r>
              <a:rPr lang="en-US" sz="1600" dirty="0" err="1">
                <a:solidFill>
                  <a:schemeClr val="tx1"/>
                </a:solidFill>
              </a:rPr>
              <a:t>agg</a:t>
            </a:r>
            <a:r>
              <a:rPr lang="en-US" sz="1600" dirty="0">
                <a:solidFill>
                  <a:schemeClr val="tx1"/>
                </a:solidFill>
              </a:rPr>
              <a:t>-system and, in this case, a single key-group</a:t>
            </a:r>
          </a:p>
        </p:txBody>
      </p:sp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10BCF340-04D9-7F61-DAE8-E4B420F30D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991789"/>
              </p:ext>
            </p:extLst>
          </p:nvPr>
        </p:nvGraphicFramePr>
        <p:xfrm>
          <a:off x="7240588" y="534988"/>
          <a:ext cx="6191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619200" imgH="523800" progId="Package">
                  <p:embed/>
                </p:oleObj>
              </mc:Choice>
              <mc:Fallback>
                <p:oleObj name="Packager Shell Object" showAsIcon="1" r:id="rId2" imgW="619200" imgH="523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40588" y="534988"/>
                        <a:ext cx="61912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21B9C3CA-23D1-0BBE-7B26-7419D94C19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462714"/>
              </p:ext>
            </p:extLst>
          </p:nvPr>
        </p:nvGraphicFramePr>
        <p:xfrm>
          <a:off x="7772400" y="96730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914400" imgH="771525" progId="Package">
                  <p:embed/>
                </p:oleObj>
              </mc:Choice>
              <mc:Fallback>
                <p:oleObj name="Packager Shell Object" showAsIcon="1" r:id="rId4" imgW="914400" imgH="77152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72400" y="96730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52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9D9AB-4AC5-3A23-E052-D1272240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01093-4EA5-89C1-D309-79BB29892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These examples use a version of the standard ieee-dot1q-bridge.yang module modified to include edits from:</a:t>
            </a:r>
          </a:p>
          <a:p>
            <a:pPr lvl="1"/>
            <a:r>
              <a:rPr lang="en-US" sz="2000" dirty="0"/>
              <a:t>Maintenance Item 0370 which introduces the “inhibit-bridge-port” presence container to allow ethernetCsmacd interfaces to prevent automatic augmentation with a “bridge-port” container.</a:t>
            </a:r>
          </a:p>
          <a:p>
            <a:pPr lvl="2"/>
            <a:r>
              <a:rPr lang="en-US" sz="1600" dirty="0"/>
              <a:t>The proposed solution in Maintenance Item 0370 uses the name “no-bridge-port” for the presence container that inhibits automatic augmentation.  Ideally this can be changed to “inhibit-bridge-port” when put into 802.1Q-2022-Rev.</a:t>
            </a:r>
          </a:p>
          <a:p>
            <a:pPr lvl="1"/>
            <a:r>
              <a:rPr lang="en-US" sz="2000" dirty="0"/>
              <a:t>Maintenance Item 0383 which allows the system to provide the unique MAC address to be used as a bridge identifier, rather than requiring it to be explicitly configured in a YANG model.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FADF673-EFEC-732D-3870-7B8C7905FC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930022"/>
              </p:ext>
            </p:extLst>
          </p:nvPr>
        </p:nvGraphicFramePr>
        <p:xfrm>
          <a:off x="3675434" y="541020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14400" imgH="771525" progId="Package">
                  <p:embed/>
                </p:oleObj>
              </mc:Choice>
              <mc:Fallback>
                <p:oleObj name="Packager Shell Object" showAsIcon="1" r:id="rId2" imgW="914400" imgH="77152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75434" y="541020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9650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DD14C-4649-E56E-9116-508CC65D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 Aggregation in other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27EF3-1BCE-70AD-CDDD-2766354AE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These models can be adapted to systems that are not bridges (e.g., routers, servers, firewalls, …).</a:t>
            </a:r>
          </a:p>
          <a:p>
            <a:pPr lvl="1"/>
            <a:r>
              <a:rPr lang="en-US" sz="2000" dirty="0"/>
              <a:t>Replace “bridges” container with container(s) that include per-system configuration and status values for the core functionality of the system.</a:t>
            </a:r>
          </a:p>
          <a:p>
            <a:pPr lvl="1"/>
            <a:r>
              <a:rPr lang="en-US" sz="2000" dirty="0"/>
              <a:t>Replace “bridge-port” container with container(s) that include port-specific configuration and status values for the functionality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3471245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8CA53-0EE3-C205-F670-7B00137CC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7414A1-3371-0C7D-281F-4351F4388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Details and Variations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C3E899A-DE1A-FEFF-FB66-369461CFEA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9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DA838-AA56-9922-A5EE-A6679268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3A7FC-3859-D343-52B0-F353DD0D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Aggregation variation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546A0-42D5-9292-47A1-A820828EC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If MAC-2 and MAC-3 are connected to different systems, only one will attach to the Aggregator (ieee8023adLag interface).</a:t>
            </a:r>
          </a:p>
          <a:p>
            <a:pPr lvl="1"/>
            <a:r>
              <a:rPr lang="en-US" sz="2000" dirty="0"/>
              <a:t>Which MAC attaches is system implementation dependent.</a:t>
            </a:r>
          </a:p>
          <a:p>
            <a:pPr lvl="1"/>
            <a:r>
              <a:rPr lang="en-US" sz="2000" dirty="0"/>
              <a:t>The link on the MAC not attached to the Aggregator will be operational but will not pass any frames because it is not attached to a higher layer.</a:t>
            </a:r>
          </a:p>
          <a:p>
            <a:pPr lvl="1"/>
            <a:r>
              <a:rPr lang="en-US" sz="2000" dirty="0"/>
              <a:t>This may be appropriate …</a:t>
            </a:r>
          </a:p>
          <a:p>
            <a:pPr lvl="2"/>
            <a:r>
              <a:rPr lang="en-US" sz="1600" dirty="0"/>
              <a:t>If there is specific functionality configured on just this bridge-port, regardless of whether that bridge-port is supported by a LAG or a solitary link, and cannot be supported on an additional bridge-port. </a:t>
            </a:r>
          </a:p>
          <a:p>
            <a:pPr lvl="1"/>
            <a:r>
              <a:rPr lang="en-US" sz="2000" dirty="0"/>
              <a:t>This may be intentional …</a:t>
            </a:r>
          </a:p>
          <a:p>
            <a:pPr lvl="2"/>
            <a:r>
              <a:rPr lang="en-US" sz="1600" dirty="0"/>
              <a:t>This </a:t>
            </a:r>
            <a:r>
              <a:rPr lang="en-US" sz="1600"/>
              <a:t>configuration supports </a:t>
            </a:r>
            <a:r>
              <a:rPr lang="en-US" sz="1600" dirty="0"/>
              <a:t>the “dual-homed” topology, where only one link is active at a time, but the other will become active if the first fails.</a:t>
            </a:r>
          </a:p>
          <a:p>
            <a:pPr lvl="2"/>
            <a:r>
              <a:rPr lang="en-US" sz="1600" dirty="0"/>
              <a:t>Particularly useful when attached to MC-LAG, DRNI, or other high availability dual-system function, because it can help prevent loops in case of a “split-brain” condition.</a:t>
            </a:r>
          </a:p>
          <a:p>
            <a:r>
              <a:rPr lang="en-US" sz="2400" dirty="0"/>
              <a:t>Alternatively …</a:t>
            </a:r>
          </a:p>
          <a:p>
            <a:pPr lvl="2"/>
            <a:r>
              <a:rPr lang="en-US" sz="1600" dirty="0"/>
              <a:t>If the functionality on this bridge-port is generic, and the bridge can support another bridge-port, then can add another ieee8023adLag interface to the key-group which would allow the MACs to either come up as two solitary links, or come up together as a LAG.</a:t>
            </a:r>
          </a:p>
        </p:txBody>
      </p:sp>
    </p:spTree>
    <p:extLst>
      <p:ext uri="{BB962C8B-B14F-4D97-AF65-F5344CB8AC3E}">
        <p14:creationId xmlns:p14="http://schemas.microsoft.com/office/powerpoint/2010/main" val="380596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2E85-87EF-0F65-9157-FF45B0C2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Aggregation variation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290E1-C9D2-EE5D-8F03-C9403A514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MAC-1 does not run LACP</a:t>
            </a:r>
          </a:p>
          <a:p>
            <a:pPr lvl="1"/>
            <a:r>
              <a:rPr lang="en-US" sz="2400" dirty="0"/>
              <a:t>Why enable LACP on this MAC?</a:t>
            </a:r>
          </a:p>
          <a:p>
            <a:pPr lvl="2"/>
            <a:r>
              <a:rPr lang="en-US" sz="2000" dirty="0"/>
              <a:t>Allows it to participate as a passive partner, rather than a silent partner, when connected to another system that would allow the link to be in an aggregation with other links.</a:t>
            </a:r>
          </a:p>
          <a:p>
            <a:pPr lvl="1"/>
            <a:r>
              <a:rPr lang="en-US" sz="2400" dirty="0"/>
              <a:t>Enabling LACP entails: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Creating another key-group configured so that any member of this key group is limited to being a solitary link (the aggregation bit of the actor-admin-state is clear).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Augmenting the MAC-1 interface with an </a:t>
            </a:r>
            <a:r>
              <a:rPr lang="en-US" sz="2000" dirty="0" err="1"/>
              <a:t>aggport</a:t>
            </a:r>
            <a:r>
              <a:rPr lang="en-US" sz="2000" dirty="0"/>
              <a:t> and inhibit-bridge-port containers instead of a bridge-port container.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Adding an ieee8023adLag interface augmented with lag and bridge-port containers.</a:t>
            </a:r>
          </a:p>
          <a:p>
            <a:pPr lvl="1"/>
            <a:r>
              <a:rPr lang="en-US" sz="2400" dirty="0"/>
              <a:t>Multiple MACs can reference the same key-group, and each will be a solitary (non-aggregated) link.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318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17CC-4185-E053-A337-4D013B43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127629-E11C-5D02-E23C-57763E316791}"/>
              </a:ext>
            </a:extLst>
          </p:cNvPr>
          <p:cNvSpPr txBox="1"/>
          <p:nvPr/>
        </p:nvSpPr>
        <p:spPr>
          <a:xfrm>
            <a:off x="4119701" y="3581400"/>
            <a:ext cx="895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3399FF"/>
                </a:solidFill>
              </a:rPr>
              <a:t>Agg 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AF9887-300E-EA4F-E871-5675F26DAB1B}"/>
              </a:ext>
            </a:extLst>
          </p:cNvPr>
          <p:cNvSpPr txBox="1"/>
          <p:nvPr/>
        </p:nvSpPr>
        <p:spPr>
          <a:xfrm>
            <a:off x="5052678" y="3581400"/>
            <a:ext cx="895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3399FF"/>
                </a:solidFill>
              </a:rPr>
              <a:t>Agg Port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4A963F-7F79-1160-C1C5-70E015D85733}"/>
              </a:ext>
            </a:extLst>
          </p:cNvPr>
          <p:cNvSpPr txBox="1"/>
          <p:nvPr/>
        </p:nvSpPr>
        <p:spPr>
          <a:xfrm>
            <a:off x="2990701" y="4050268"/>
            <a:ext cx="82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MAC-1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DC11F-BBFA-9B1B-0796-03DC0BA52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866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Box </a:t>
            </a:r>
            <a:r>
              <a:rPr lang="en-US"/>
              <a:t>1b variations 1 and 2 </a:t>
            </a:r>
            <a:br>
              <a:rPr lang="en-US" dirty="0"/>
            </a:br>
            <a:r>
              <a:rPr lang="en-US" dirty="0"/>
              <a:t>“baggy pants”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0806E-8B50-5152-3387-5EF4E9E58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602" y="1600200"/>
            <a:ext cx="1600198" cy="480059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4629D6-4F08-FC59-4773-B076D15709A6}"/>
              </a:ext>
            </a:extLst>
          </p:cNvPr>
          <p:cNvSpPr/>
          <p:nvPr/>
        </p:nvSpPr>
        <p:spPr>
          <a:xfrm>
            <a:off x="2881924" y="2362200"/>
            <a:ext cx="3066577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B263BE-6A36-C634-DF2B-051688492868}"/>
              </a:ext>
            </a:extLst>
          </p:cNvPr>
          <p:cNvSpPr txBox="1"/>
          <p:nvPr/>
        </p:nvSpPr>
        <p:spPr>
          <a:xfrm>
            <a:off x="3891101" y="2514600"/>
            <a:ext cx="1189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Box 1b</a:t>
            </a:r>
          </a:p>
          <a:p>
            <a:pPr algn="ctr"/>
            <a:r>
              <a:rPr lang="en-US" dirty="0"/>
              <a:t>MAC Relay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00BBBE-E1CD-03AB-1729-1F32056E313D}"/>
              </a:ext>
            </a:extLst>
          </p:cNvPr>
          <p:cNvSpPr/>
          <p:nvPr/>
        </p:nvSpPr>
        <p:spPr>
          <a:xfrm>
            <a:off x="4119701" y="3276599"/>
            <a:ext cx="1828800" cy="641865"/>
          </a:xfrm>
          <a:prstGeom prst="rect">
            <a:avLst/>
          </a:prstGeom>
          <a:noFill/>
          <a:ln>
            <a:solidFill>
              <a:srgbClr val="33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61FED8-5A1B-2051-D5A9-76EF15A6F6B4}"/>
              </a:ext>
            </a:extLst>
          </p:cNvPr>
          <p:cNvCxnSpPr/>
          <p:nvPr/>
        </p:nvCxnSpPr>
        <p:spPr>
          <a:xfrm>
            <a:off x="4119701" y="3581400"/>
            <a:ext cx="1828800" cy="0"/>
          </a:xfrm>
          <a:prstGeom prst="line">
            <a:avLst/>
          </a:prstGeom>
          <a:ln>
            <a:solidFill>
              <a:srgbClr val="3399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C008BF-7E2E-6810-23CB-26A248773E3A}"/>
              </a:ext>
            </a:extLst>
          </p:cNvPr>
          <p:cNvCxnSpPr>
            <a:cxnSpLocks/>
          </p:cNvCxnSpPr>
          <p:nvPr/>
        </p:nvCxnSpPr>
        <p:spPr>
          <a:xfrm>
            <a:off x="5034101" y="3276600"/>
            <a:ext cx="0" cy="609601"/>
          </a:xfrm>
          <a:prstGeom prst="line">
            <a:avLst/>
          </a:prstGeom>
          <a:ln>
            <a:solidFill>
              <a:srgbClr val="3399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3D61A78-0B2C-D6FE-484D-1639BF3EE1B9}"/>
              </a:ext>
            </a:extLst>
          </p:cNvPr>
          <p:cNvSpPr/>
          <p:nvPr/>
        </p:nvSpPr>
        <p:spPr>
          <a:xfrm>
            <a:off x="2881924" y="3276600"/>
            <a:ext cx="932977" cy="1219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B4271E-CE30-23B5-F451-43FD247034B0}"/>
              </a:ext>
            </a:extLst>
          </p:cNvPr>
          <p:cNvSpPr/>
          <p:nvPr/>
        </p:nvSpPr>
        <p:spPr>
          <a:xfrm>
            <a:off x="4119701" y="3918464"/>
            <a:ext cx="762000" cy="577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EDE549-0956-AB6A-AF04-97E60E07690E}"/>
              </a:ext>
            </a:extLst>
          </p:cNvPr>
          <p:cNvSpPr/>
          <p:nvPr/>
        </p:nvSpPr>
        <p:spPr>
          <a:xfrm>
            <a:off x="5186501" y="3918468"/>
            <a:ext cx="762000" cy="5773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C1A7A-F0BF-8E3F-687E-1608A641F947}"/>
              </a:ext>
            </a:extLst>
          </p:cNvPr>
          <p:cNvSpPr txBox="1"/>
          <p:nvPr/>
        </p:nvSpPr>
        <p:spPr>
          <a:xfrm>
            <a:off x="4133701" y="4050268"/>
            <a:ext cx="82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MAC-2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031700-C9DA-6B4E-F58B-1D2645ED35B6}"/>
              </a:ext>
            </a:extLst>
          </p:cNvPr>
          <p:cNvSpPr txBox="1"/>
          <p:nvPr/>
        </p:nvSpPr>
        <p:spPr>
          <a:xfrm>
            <a:off x="5124301" y="4050268"/>
            <a:ext cx="82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MAC-3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31B442-0293-ECC8-26F7-33492E6FA035}"/>
              </a:ext>
            </a:extLst>
          </p:cNvPr>
          <p:cNvSpPr txBox="1"/>
          <p:nvPr/>
        </p:nvSpPr>
        <p:spPr>
          <a:xfrm>
            <a:off x="5334001" y="3733800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5E144C-AD1A-3CCE-AEED-A25AAA77F448}"/>
              </a:ext>
            </a:extLst>
          </p:cNvPr>
          <p:cNvSpPr txBox="1"/>
          <p:nvPr/>
        </p:nvSpPr>
        <p:spPr>
          <a:xfrm>
            <a:off x="3276601" y="3090446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C9D525-274A-38FA-CD6C-9EE7C2CB063C}"/>
              </a:ext>
            </a:extLst>
          </p:cNvPr>
          <p:cNvSpPr txBox="1"/>
          <p:nvPr/>
        </p:nvSpPr>
        <p:spPr>
          <a:xfrm>
            <a:off x="5334001" y="3090446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23BA3E-72A0-C1F3-DB24-940D66036754}"/>
              </a:ext>
            </a:extLst>
          </p:cNvPr>
          <p:cNvSpPr txBox="1"/>
          <p:nvPr/>
        </p:nvSpPr>
        <p:spPr>
          <a:xfrm>
            <a:off x="4419601" y="3733800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644D79-C47E-6ED2-58FC-58636ABCFC75}"/>
              </a:ext>
            </a:extLst>
          </p:cNvPr>
          <p:cNvCxnSpPr>
            <a:cxnSpLocks/>
          </p:cNvCxnSpPr>
          <p:nvPr/>
        </p:nvCxnSpPr>
        <p:spPr>
          <a:xfrm flipH="1">
            <a:off x="5567501" y="4800598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BCFCD08-781F-D981-EF1A-1BDCB571DBEB}"/>
              </a:ext>
            </a:extLst>
          </p:cNvPr>
          <p:cNvCxnSpPr>
            <a:cxnSpLocks/>
          </p:cNvCxnSpPr>
          <p:nvPr/>
        </p:nvCxnSpPr>
        <p:spPr>
          <a:xfrm flipH="1">
            <a:off x="4500701" y="4953000"/>
            <a:ext cx="1828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99B31A7-F422-B4B6-AA5F-5741BE60A25A}"/>
              </a:ext>
            </a:extLst>
          </p:cNvPr>
          <p:cNvSpPr/>
          <p:nvPr/>
        </p:nvSpPr>
        <p:spPr>
          <a:xfrm>
            <a:off x="6100901" y="4648200"/>
            <a:ext cx="76200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C9A8184-7B1F-4B97-BD26-467B7924C2D4}"/>
              </a:ext>
            </a:extLst>
          </p:cNvPr>
          <p:cNvCxnSpPr>
            <a:cxnSpLocks/>
          </p:cNvCxnSpPr>
          <p:nvPr/>
        </p:nvCxnSpPr>
        <p:spPr>
          <a:xfrm flipH="1">
            <a:off x="2671901" y="4800600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C33107E-8189-8768-046A-13AE7A881DD4}"/>
              </a:ext>
            </a:extLst>
          </p:cNvPr>
          <p:cNvCxnSpPr>
            <a:cxnSpLocks/>
          </p:cNvCxnSpPr>
          <p:nvPr/>
        </p:nvCxnSpPr>
        <p:spPr>
          <a:xfrm>
            <a:off x="3433901" y="44958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1DDFC8A-D8B3-1637-EF54-50AAD56F6DF1}"/>
              </a:ext>
            </a:extLst>
          </p:cNvPr>
          <p:cNvCxnSpPr>
            <a:cxnSpLocks/>
          </p:cNvCxnSpPr>
          <p:nvPr/>
        </p:nvCxnSpPr>
        <p:spPr>
          <a:xfrm>
            <a:off x="5567501" y="44958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7CAE731-82CD-FE04-0F19-386FC7E1FFFC}"/>
              </a:ext>
            </a:extLst>
          </p:cNvPr>
          <p:cNvCxnSpPr>
            <a:cxnSpLocks/>
          </p:cNvCxnSpPr>
          <p:nvPr/>
        </p:nvCxnSpPr>
        <p:spPr>
          <a:xfrm>
            <a:off x="4500701" y="4495800"/>
            <a:ext cx="0" cy="4572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E2C4B6C-21DC-5BE9-9C88-1183E1DBF1AA}"/>
              </a:ext>
            </a:extLst>
          </p:cNvPr>
          <p:cNvSpPr/>
          <p:nvPr/>
        </p:nvSpPr>
        <p:spPr>
          <a:xfrm>
            <a:off x="2881923" y="3276600"/>
            <a:ext cx="932978" cy="641865"/>
          </a:xfrm>
          <a:prstGeom prst="rect">
            <a:avLst/>
          </a:prstGeom>
          <a:noFill/>
          <a:ln>
            <a:solidFill>
              <a:srgbClr val="33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446CC8-EF19-49E0-120F-16722ABE4B97}"/>
              </a:ext>
            </a:extLst>
          </p:cNvPr>
          <p:cNvCxnSpPr>
            <a:cxnSpLocks/>
          </p:cNvCxnSpPr>
          <p:nvPr/>
        </p:nvCxnSpPr>
        <p:spPr>
          <a:xfrm>
            <a:off x="2881924" y="3581400"/>
            <a:ext cx="932977" cy="0"/>
          </a:xfrm>
          <a:prstGeom prst="line">
            <a:avLst/>
          </a:prstGeom>
          <a:ln>
            <a:solidFill>
              <a:srgbClr val="3399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F5B9419-760F-AA10-3F62-D06E08A25AC9}"/>
              </a:ext>
            </a:extLst>
          </p:cNvPr>
          <p:cNvSpPr txBox="1"/>
          <p:nvPr/>
        </p:nvSpPr>
        <p:spPr>
          <a:xfrm>
            <a:off x="2847225" y="3276601"/>
            <a:ext cx="10438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3399FF"/>
                </a:solidFill>
              </a:rPr>
              <a:t>Aggregator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3C1A1C-B5F6-5C0B-B818-61BC0C43BA10}"/>
              </a:ext>
            </a:extLst>
          </p:cNvPr>
          <p:cNvCxnSpPr>
            <a:cxnSpLocks/>
          </p:cNvCxnSpPr>
          <p:nvPr/>
        </p:nvCxnSpPr>
        <p:spPr>
          <a:xfrm>
            <a:off x="2900501" y="3581401"/>
            <a:ext cx="0" cy="304800"/>
          </a:xfrm>
          <a:prstGeom prst="line">
            <a:avLst/>
          </a:prstGeom>
          <a:ln>
            <a:solidFill>
              <a:srgbClr val="3399FF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4641DC-C704-0B71-35E4-4B6AE8482488}"/>
              </a:ext>
            </a:extLst>
          </p:cNvPr>
          <p:cNvSpPr txBox="1"/>
          <p:nvPr/>
        </p:nvSpPr>
        <p:spPr>
          <a:xfrm>
            <a:off x="2919078" y="3581401"/>
            <a:ext cx="895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3399FF"/>
                </a:solidFill>
              </a:rPr>
              <a:t>Agg Port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AA1E3B-BF4E-8B03-4FD8-91963432F0C4}"/>
              </a:ext>
            </a:extLst>
          </p:cNvPr>
          <p:cNvSpPr txBox="1"/>
          <p:nvPr/>
        </p:nvSpPr>
        <p:spPr>
          <a:xfrm>
            <a:off x="3281501" y="3733800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3397C0-AE68-C23A-E968-6DAE03840012}"/>
              </a:ext>
            </a:extLst>
          </p:cNvPr>
          <p:cNvSpPr txBox="1"/>
          <p:nvPr/>
        </p:nvSpPr>
        <p:spPr>
          <a:xfrm>
            <a:off x="4419601" y="3090446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A1D3A9-A57E-AE16-B4BC-3B0E6A88CE74}"/>
              </a:ext>
            </a:extLst>
          </p:cNvPr>
          <p:cNvSpPr txBox="1"/>
          <p:nvPr/>
        </p:nvSpPr>
        <p:spPr>
          <a:xfrm>
            <a:off x="4066425" y="3276600"/>
            <a:ext cx="10438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3399FF"/>
                </a:solidFill>
              </a:rPr>
              <a:t>Aggregator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CC6BB8-B22C-67CB-CE82-B98C59CAE0B0}"/>
              </a:ext>
            </a:extLst>
          </p:cNvPr>
          <p:cNvSpPr txBox="1"/>
          <p:nvPr/>
        </p:nvSpPr>
        <p:spPr>
          <a:xfrm>
            <a:off x="4957901" y="3276600"/>
            <a:ext cx="10438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3399FF"/>
                </a:solidFill>
              </a:rPr>
              <a:t>Aggregator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0A26B3A-D240-854B-94B2-D1B7A1590039}"/>
              </a:ext>
            </a:extLst>
          </p:cNvPr>
          <p:cNvCxnSpPr>
            <a:cxnSpLocks/>
          </p:cNvCxnSpPr>
          <p:nvPr/>
        </p:nvCxnSpPr>
        <p:spPr>
          <a:xfrm>
            <a:off x="4729301" y="3505200"/>
            <a:ext cx="685802" cy="228600"/>
          </a:xfrm>
          <a:prstGeom prst="line">
            <a:avLst/>
          </a:prstGeom>
          <a:ln w="38100">
            <a:solidFill>
              <a:srgbClr val="3399FF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3C91E84-C843-2FF5-10CC-6C446F646AD4}"/>
              </a:ext>
            </a:extLst>
          </p:cNvPr>
          <p:cNvCxnSpPr>
            <a:cxnSpLocks/>
          </p:cNvCxnSpPr>
          <p:nvPr/>
        </p:nvCxnSpPr>
        <p:spPr>
          <a:xfrm flipH="1">
            <a:off x="4377112" y="3472937"/>
            <a:ext cx="22372" cy="255026"/>
          </a:xfrm>
          <a:prstGeom prst="line">
            <a:avLst/>
          </a:prstGeom>
          <a:ln w="38100">
            <a:solidFill>
              <a:srgbClr val="3399FF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Speech Bubble: Rectangle with Corners Rounded 58">
            <a:extLst>
              <a:ext uri="{FF2B5EF4-FFF2-40B4-BE49-F238E27FC236}">
                <a16:creationId xmlns:a16="http://schemas.microsoft.com/office/drawing/2014/main" id="{D70DE8C2-D397-6F02-428D-5EE5E4089848}"/>
              </a:ext>
            </a:extLst>
          </p:cNvPr>
          <p:cNvSpPr/>
          <p:nvPr/>
        </p:nvSpPr>
        <p:spPr>
          <a:xfrm>
            <a:off x="815417" y="2117386"/>
            <a:ext cx="1752600" cy="1594364"/>
          </a:xfrm>
          <a:prstGeom prst="wedgeRoundRectCallout">
            <a:avLst>
              <a:gd name="adj1" fmla="val 66317"/>
              <a:gd name="adj2" fmla="val 4106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Link Aggregation variation 2 to enable MAC-1 to exchange LACPDUs with an active partner</a:t>
            </a:r>
          </a:p>
        </p:txBody>
      </p:sp>
      <p:sp>
        <p:nvSpPr>
          <p:cNvPr id="60" name="Speech Bubble: Rectangle with Corners Rounded 59">
            <a:extLst>
              <a:ext uri="{FF2B5EF4-FFF2-40B4-BE49-F238E27FC236}">
                <a16:creationId xmlns:a16="http://schemas.microsoft.com/office/drawing/2014/main" id="{B4313536-72C8-0423-CACD-B34EDBA921F6}"/>
              </a:ext>
            </a:extLst>
          </p:cNvPr>
          <p:cNvSpPr/>
          <p:nvPr/>
        </p:nvSpPr>
        <p:spPr>
          <a:xfrm>
            <a:off x="6544352" y="2028734"/>
            <a:ext cx="1752600" cy="1857462"/>
          </a:xfrm>
          <a:prstGeom prst="wedgeRoundRectCallout">
            <a:avLst>
              <a:gd name="adj1" fmla="val -83544"/>
              <a:gd name="adj2" fmla="val 26152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Link Aggregation variation 1 to allow both links to come up if connected to different systems</a:t>
            </a:r>
          </a:p>
        </p:txBody>
      </p:sp>
    </p:spTree>
    <p:extLst>
      <p:ext uri="{BB962C8B-B14F-4D97-AF65-F5344CB8AC3E}">
        <p14:creationId xmlns:p14="http://schemas.microsoft.com/office/powerpoint/2010/main" val="1202808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8BBC-5314-0334-AF49-1A4A9AC6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94FFC46-5588-93EC-1BE6-9DD507740223}"/>
              </a:ext>
            </a:extLst>
          </p:cNvPr>
          <p:cNvSpPr txBox="1"/>
          <p:nvPr/>
        </p:nvSpPr>
        <p:spPr>
          <a:xfrm>
            <a:off x="2982731" y="2579382"/>
            <a:ext cx="16001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3399FF"/>
                </a:solidFill>
              </a:rPr>
              <a:t>key-group-2and3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CA654DD-8E6E-CB17-EA20-6D250A613C65}"/>
              </a:ext>
            </a:extLst>
          </p:cNvPr>
          <p:cNvSpPr/>
          <p:nvPr/>
        </p:nvSpPr>
        <p:spPr>
          <a:xfrm>
            <a:off x="2541608" y="4706772"/>
            <a:ext cx="1921466" cy="1354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0543D9-2BD7-9714-2B97-25F4F2A1B98F}"/>
              </a:ext>
            </a:extLst>
          </p:cNvPr>
          <p:cNvSpPr txBox="1"/>
          <p:nvPr/>
        </p:nvSpPr>
        <p:spPr>
          <a:xfrm>
            <a:off x="2516836" y="4741783"/>
            <a:ext cx="194623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inhibit-bridge-port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</a:t>
            </a:r>
            <a:r>
              <a:rPr lang="en-US" sz="1600" dirty="0" err="1">
                <a:solidFill>
                  <a:srgbClr val="3399FF"/>
                </a:solidFill>
              </a:rPr>
              <a:t>aggport</a:t>
            </a:r>
            <a:r>
              <a:rPr lang="en-US" sz="1600" dirty="0">
                <a:solidFill>
                  <a:srgbClr val="3399FF"/>
                </a:solidFill>
              </a:rPr>
              <a:t>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MAC-2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31F9E8E-C705-10AC-B534-69337F232245}"/>
              </a:ext>
            </a:extLst>
          </p:cNvPr>
          <p:cNvCxnSpPr>
            <a:cxnSpLocks/>
          </p:cNvCxnSpPr>
          <p:nvPr/>
        </p:nvCxnSpPr>
        <p:spPr>
          <a:xfrm flipH="1">
            <a:off x="2112951" y="1813534"/>
            <a:ext cx="1225258" cy="1844066"/>
          </a:xfrm>
          <a:prstGeom prst="line">
            <a:avLst/>
          </a:prstGeom>
          <a:ln w="25400">
            <a:solidFill>
              <a:srgbClr val="00B050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A86BF06-530F-478A-4FB3-E4AFA86E30E1}"/>
              </a:ext>
            </a:extLst>
          </p:cNvPr>
          <p:cNvCxnSpPr>
            <a:cxnSpLocks/>
          </p:cNvCxnSpPr>
          <p:nvPr/>
        </p:nvCxnSpPr>
        <p:spPr>
          <a:xfrm>
            <a:off x="4291100" y="1813534"/>
            <a:ext cx="1450565" cy="1822398"/>
          </a:xfrm>
          <a:prstGeom prst="line">
            <a:avLst/>
          </a:prstGeom>
          <a:ln w="25400">
            <a:solidFill>
              <a:srgbClr val="00B050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FD5CE4E-8123-4CFF-0B73-B738B2E626FC}"/>
              </a:ext>
            </a:extLst>
          </p:cNvPr>
          <p:cNvCxnSpPr>
            <a:cxnSpLocks/>
          </p:cNvCxnSpPr>
          <p:nvPr/>
        </p:nvCxnSpPr>
        <p:spPr>
          <a:xfrm flipH="1">
            <a:off x="789008" y="6400800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C9E664B-878D-057E-A601-2C10981C2D13}"/>
              </a:ext>
            </a:extLst>
          </p:cNvPr>
          <p:cNvCxnSpPr>
            <a:cxnSpLocks/>
          </p:cNvCxnSpPr>
          <p:nvPr/>
        </p:nvCxnSpPr>
        <p:spPr>
          <a:xfrm>
            <a:off x="1551008" y="60960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F851500-63C7-B54E-7136-83AA60323B16}"/>
              </a:ext>
            </a:extLst>
          </p:cNvPr>
          <p:cNvCxnSpPr>
            <a:cxnSpLocks/>
          </p:cNvCxnSpPr>
          <p:nvPr/>
        </p:nvCxnSpPr>
        <p:spPr>
          <a:xfrm flipH="1">
            <a:off x="5742008" y="6400798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997BCA9-0E44-0332-749B-4ACDECAE0233}"/>
              </a:ext>
            </a:extLst>
          </p:cNvPr>
          <p:cNvCxnSpPr>
            <a:cxnSpLocks/>
          </p:cNvCxnSpPr>
          <p:nvPr/>
        </p:nvCxnSpPr>
        <p:spPr>
          <a:xfrm flipH="1">
            <a:off x="3837008" y="6553200"/>
            <a:ext cx="2667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C38C5876-487A-8DDB-411A-9022003E20C3}"/>
              </a:ext>
            </a:extLst>
          </p:cNvPr>
          <p:cNvSpPr/>
          <p:nvPr/>
        </p:nvSpPr>
        <p:spPr>
          <a:xfrm>
            <a:off x="6275408" y="6248400"/>
            <a:ext cx="76200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8BBCEEA-0556-FB89-B0E8-487F171759D8}"/>
              </a:ext>
            </a:extLst>
          </p:cNvPr>
          <p:cNvCxnSpPr>
            <a:cxnSpLocks/>
          </p:cNvCxnSpPr>
          <p:nvPr/>
        </p:nvCxnSpPr>
        <p:spPr>
          <a:xfrm>
            <a:off x="5742008" y="60960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F2256CF-2D5D-8778-E496-40AD0E21F06D}"/>
              </a:ext>
            </a:extLst>
          </p:cNvPr>
          <p:cNvCxnSpPr>
            <a:cxnSpLocks/>
          </p:cNvCxnSpPr>
          <p:nvPr/>
        </p:nvCxnSpPr>
        <p:spPr>
          <a:xfrm>
            <a:off x="3837008" y="6096000"/>
            <a:ext cx="0" cy="4572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11788834-C63B-9C1D-18E8-ABC4DA1D25CC}"/>
              </a:ext>
            </a:extLst>
          </p:cNvPr>
          <p:cNvSpPr/>
          <p:nvPr/>
        </p:nvSpPr>
        <p:spPr>
          <a:xfrm>
            <a:off x="4623780" y="4706772"/>
            <a:ext cx="1921466" cy="1354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76EE10-3515-A6CB-36F2-7B18FE1A38B0}"/>
              </a:ext>
            </a:extLst>
          </p:cNvPr>
          <p:cNvSpPr txBox="1"/>
          <p:nvPr/>
        </p:nvSpPr>
        <p:spPr>
          <a:xfrm>
            <a:off x="4599008" y="4741783"/>
            <a:ext cx="194623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inhibit-bridge-port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</a:t>
            </a:r>
            <a:r>
              <a:rPr lang="en-US" sz="1600" dirty="0" err="1">
                <a:solidFill>
                  <a:srgbClr val="3399FF"/>
                </a:solidFill>
              </a:rPr>
              <a:t>aggport</a:t>
            </a:r>
            <a:r>
              <a:rPr lang="en-US" sz="1600" dirty="0">
                <a:solidFill>
                  <a:srgbClr val="3399FF"/>
                </a:solidFill>
              </a:rPr>
              <a:t>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MAC-3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7CBA547-9522-DEED-5A98-D68D3B600795}"/>
              </a:ext>
            </a:extLst>
          </p:cNvPr>
          <p:cNvCxnSpPr>
            <a:cxnSpLocks/>
          </p:cNvCxnSpPr>
          <p:nvPr/>
        </p:nvCxnSpPr>
        <p:spPr>
          <a:xfrm>
            <a:off x="4265408" y="4364867"/>
            <a:ext cx="1248000" cy="359533"/>
          </a:xfrm>
          <a:prstGeom prst="line">
            <a:avLst/>
          </a:prstGeom>
          <a:ln w="38100">
            <a:solidFill>
              <a:srgbClr val="3399FF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342A273-B2BC-6723-B037-C98B5B27EF5F}"/>
              </a:ext>
            </a:extLst>
          </p:cNvPr>
          <p:cNvCxnSpPr>
            <a:cxnSpLocks/>
          </p:cNvCxnSpPr>
          <p:nvPr/>
        </p:nvCxnSpPr>
        <p:spPr>
          <a:xfrm flipH="1">
            <a:off x="3587759" y="4364867"/>
            <a:ext cx="222241" cy="338803"/>
          </a:xfrm>
          <a:prstGeom prst="line">
            <a:avLst/>
          </a:prstGeom>
          <a:ln w="38100">
            <a:solidFill>
              <a:srgbClr val="3399FF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Speech Bubble: Rectangle with Corners Rounded 94">
            <a:extLst>
              <a:ext uri="{FF2B5EF4-FFF2-40B4-BE49-F238E27FC236}">
                <a16:creationId xmlns:a16="http://schemas.microsoft.com/office/drawing/2014/main" id="{D368700E-026E-177C-10AC-277B86C6CC2C}"/>
              </a:ext>
            </a:extLst>
          </p:cNvPr>
          <p:cNvSpPr/>
          <p:nvPr/>
        </p:nvSpPr>
        <p:spPr>
          <a:xfrm>
            <a:off x="330609" y="2401731"/>
            <a:ext cx="1752600" cy="638268"/>
          </a:xfrm>
          <a:prstGeom prst="wedgeRoundRectCallout">
            <a:avLst>
              <a:gd name="adj1" fmla="val 33015"/>
              <a:gd name="adj2" fmla="val 120673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Link Aggregation variation 2 </a:t>
            </a:r>
          </a:p>
        </p:txBody>
      </p:sp>
      <p:sp>
        <p:nvSpPr>
          <p:cNvPr id="98" name="Speech Bubble: Rectangle with Corners Rounded 97">
            <a:extLst>
              <a:ext uri="{FF2B5EF4-FFF2-40B4-BE49-F238E27FC236}">
                <a16:creationId xmlns:a16="http://schemas.microsoft.com/office/drawing/2014/main" id="{7666466F-A0D5-F78D-8F5E-5C59D4574248}"/>
              </a:ext>
            </a:extLst>
          </p:cNvPr>
          <p:cNvSpPr/>
          <p:nvPr/>
        </p:nvSpPr>
        <p:spPr>
          <a:xfrm>
            <a:off x="5333209" y="476325"/>
            <a:ext cx="3320625" cy="2123284"/>
          </a:xfrm>
          <a:prstGeom prst="wedgeRoundRectCallout">
            <a:avLst>
              <a:gd name="adj1" fmla="val -33556"/>
              <a:gd name="adj2" fmla="val 91009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Link Aggregation variation 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When MAC-2 and MAC-3 form a LAG, this interface will not be operational (</a:t>
            </a:r>
            <a:r>
              <a:rPr lang="en-US" sz="1400" dirty="0" err="1">
                <a:solidFill>
                  <a:schemeClr val="tx1"/>
                </a:solidFill>
              </a:rPr>
              <a:t>oper</a:t>
            </a:r>
            <a:r>
              <a:rPr lang="en-US" sz="1400" dirty="0">
                <a:solidFill>
                  <a:schemeClr val="tx1"/>
                </a:solidFill>
              </a:rPr>
              <a:t>-status = down)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When MAC-2 and MAC-3 connect to different systems, one MAC will attach to this Aggregator and this interface will be operational (</a:t>
            </a:r>
            <a:r>
              <a:rPr lang="en-US" sz="1400" dirty="0" err="1">
                <a:solidFill>
                  <a:schemeClr val="tx1"/>
                </a:solidFill>
              </a:rPr>
              <a:t>oper</a:t>
            </a:r>
            <a:r>
              <a:rPr lang="en-US" sz="1400" dirty="0">
                <a:solidFill>
                  <a:schemeClr val="tx1"/>
                </a:solidFill>
              </a:rPr>
              <a:t>-status = up).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EA3991-C237-794F-50DC-02ECF36A3B68}"/>
              </a:ext>
            </a:extLst>
          </p:cNvPr>
          <p:cNvSpPr/>
          <p:nvPr/>
        </p:nvSpPr>
        <p:spPr>
          <a:xfrm>
            <a:off x="2929687" y="2058608"/>
            <a:ext cx="1752597" cy="1253001"/>
          </a:xfrm>
          <a:prstGeom prst="rect">
            <a:avLst/>
          </a:prstGeom>
          <a:noFill/>
          <a:ln>
            <a:solidFill>
              <a:srgbClr val="33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59C6-859B-3EA9-F745-32CA7B3E8462}"/>
              </a:ext>
            </a:extLst>
          </p:cNvPr>
          <p:cNvSpPr/>
          <p:nvPr/>
        </p:nvSpPr>
        <p:spPr>
          <a:xfrm>
            <a:off x="3151208" y="2330548"/>
            <a:ext cx="1266860" cy="276256"/>
          </a:xfrm>
          <a:prstGeom prst="rect">
            <a:avLst/>
          </a:prstGeom>
          <a:noFill/>
          <a:ln>
            <a:solidFill>
              <a:srgbClr val="3399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46981B-32AD-BA1A-760F-1847E74FF6A1}"/>
              </a:ext>
            </a:extLst>
          </p:cNvPr>
          <p:cNvSpPr txBox="1"/>
          <p:nvPr/>
        </p:nvSpPr>
        <p:spPr>
          <a:xfrm>
            <a:off x="3211193" y="2306846"/>
            <a:ext cx="113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3399FF"/>
                </a:solidFill>
              </a:rPr>
              <a:t>agg</a:t>
            </a:r>
            <a:r>
              <a:rPr lang="en-US" sz="1600" dirty="0">
                <a:solidFill>
                  <a:srgbClr val="3399FF"/>
                </a:solidFill>
              </a:rPr>
              <a:t>-system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40B7C9-AB0C-9449-06B0-CCEF77258178}"/>
              </a:ext>
            </a:extLst>
          </p:cNvPr>
          <p:cNvSpPr/>
          <p:nvPr/>
        </p:nvSpPr>
        <p:spPr>
          <a:xfrm>
            <a:off x="3048000" y="2604333"/>
            <a:ext cx="1511333" cy="304798"/>
          </a:xfrm>
          <a:prstGeom prst="rect">
            <a:avLst/>
          </a:prstGeom>
          <a:noFill/>
          <a:ln>
            <a:solidFill>
              <a:srgbClr val="3399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9D542-2217-FB6E-1D6F-AD8D8970D072}"/>
              </a:ext>
            </a:extLst>
          </p:cNvPr>
          <p:cNvSpPr txBox="1"/>
          <p:nvPr/>
        </p:nvSpPr>
        <p:spPr>
          <a:xfrm>
            <a:off x="3402617" y="2003536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3399FF"/>
                </a:solidFill>
              </a:rPr>
              <a:t>linkagg</a:t>
            </a:r>
            <a:endParaRPr lang="en-US" sz="1600" dirty="0">
              <a:solidFill>
                <a:srgbClr val="3399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2D60EF-3950-2C57-B5C7-345792020840}"/>
              </a:ext>
            </a:extLst>
          </p:cNvPr>
          <p:cNvSpPr/>
          <p:nvPr/>
        </p:nvSpPr>
        <p:spPr>
          <a:xfrm>
            <a:off x="2922610" y="931402"/>
            <a:ext cx="1752597" cy="11259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C6CC58-06B2-CA43-923B-18F6FB02F8B1}"/>
              </a:ext>
            </a:extLst>
          </p:cNvPr>
          <p:cNvSpPr/>
          <p:nvPr/>
        </p:nvSpPr>
        <p:spPr>
          <a:xfrm>
            <a:off x="3062872" y="1283733"/>
            <a:ext cx="1459938" cy="697467"/>
          </a:xfrm>
          <a:prstGeom prst="rect">
            <a:avLst/>
          </a:prstGeom>
          <a:noFill/>
          <a:ln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1FA621-6459-3183-B058-CE34A16E19BD}"/>
              </a:ext>
            </a:extLst>
          </p:cNvPr>
          <p:cNvSpPr txBox="1"/>
          <p:nvPr/>
        </p:nvSpPr>
        <p:spPr>
          <a:xfrm>
            <a:off x="3397300" y="1280134"/>
            <a:ext cx="79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bridge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F5EDE9-6E01-32D8-F54B-0C7D15E08F13}"/>
              </a:ext>
            </a:extLst>
          </p:cNvPr>
          <p:cNvSpPr/>
          <p:nvPr/>
        </p:nvSpPr>
        <p:spPr>
          <a:xfrm>
            <a:off x="3167425" y="1586426"/>
            <a:ext cx="1266860" cy="304798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D1B6BB-BFF1-85F4-7C4F-10D34562FE14}"/>
              </a:ext>
            </a:extLst>
          </p:cNvPr>
          <p:cNvSpPr txBox="1"/>
          <p:nvPr/>
        </p:nvSpPr>
        <p:spPr>
          <a:xfrm>
            <a:off x="3227597" y="1552670"/>
            <a:ext cx="1142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component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BC1154-A969-732A-893D-1609F7BCA080}"/>
              </a:ext>
            </a:extLst>
          </p:cNvPr>
          <p:cNvSpPr txBox="1"/>
          <p:nvPr/>
        </p:nvSpPr>
        <p:spPr>
          <a:xfrm>
            <a:off x="3379807" y="914400"/>
            <a:ext cx="79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bridges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FB9CD-F420-2957-B96D-D1E0DFDEACFC}"/>
              </a:ext>
            </a:extLst>
          </p:cNvPr>
          <p:cNvSpPr txBox="1"/>
          <p:nvPr/>
        </p:nvSpPr>
        <p:spPr>
          <a:xfrm>
            <a:off x="2782625" y="228600"/>
            <a:ext cx="2056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Box 1b YANG Model</a:t>
            </a:r>
          </a:p>
          <a:p>
            <a:pPr algn="ctr"/>
            <a:r>
              <a:rPr lang="en-US" dirty="0"/>
              <a:t>variations 1 and 2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032D52F-D061-AFDB-CD56-E8F7FA520ECD}"/>
              </a:ext>
            </a:extLst>
          </p:cNvPr>
          <p:cNvCxnSpPr>
            <a:cxnSpLocks/>
          </p:cNvCxnSpPr>
          <p:nvPr/>
        </p:nvCxnSpPr>
        <p:spPr>
          <a:xfrm>
            <a:off x="4218008" y="2819400"/>
            <a:ext cx="1443427" cy="1012983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0D99069-C030-2354-5FD2-F6A5DC2F657A}"/>
              </a:ext>
            </a:extLst>
          </p:cNvPr>
          <p:cNvCxnSpPr>
            <a:cxnSpLocks/>
          </p:cNvCxnSpPr>
          <p:nvPr/>
        </p:nvCxnSpPr>
        <p:spPr>
          <a:xfrm>
            <a:off x="4082074" y="2834300"/>
            <a:ext cx="1355134" cy="2271100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CD4AD36-5D84-CF00-32A1-79C144E9B023}"/>
              </a:ext>
            </a:extLst>
          </p:cNvPr>
          <p:cNvCxnSpPr>
            <a:cxnSpLocks/>
          </p:cNvCxnSpPr>
          <p:nvPr/>
        </p:nvCxnSpPr>
        <p:spPr>
          <a:xfrm flipH="1">
            <a:off x="3384654" y="2835404"/>
            <a:ext cx="196746" cy="2269996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DB8B4854-6EA2-DE85-E4AE-18FCD52AD3A6}"/>
              </a:ext>
            </a:extLst>
          </p:cNvPr>
          <p:cNvSpPr/>
          <p:nvPr/>
        </p:nvSpPr>
        <p:spPr>
          <a:xfrm>
            <a:off x="3036689" y="3480631"/>
            <a:ext cx="1611511" cy="862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523A16-42FF-A0FC-5F31-0DDA40A32E89}"/>
              </a:ext>
            </a:extLst>
          </p:cNvPr>
          <p:cNvSpPr txBox="1"/>
          <p:nvPr/>
        </p:nvSpPr>
        <p:spPr>
          <a:xfrm>
            <a:off x="3111925" y="3509301"/>
            <a:ext cx="1441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lag ]</a:t>
            </a:r>
          </a:p>
          <a:p>
            <a:pPr algn="ctr"/>
            <a:r>
              <a:rPr lang="en-US" sz="1600" dirty="0"/>
              <a:t>ieee8023adLag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B53E5-D14C-ECC1-E2A5-7B4B6647011F}"/>
              </a:ext>
            </a:extLst>
          </p:cNvPr>
          <p:cNvSpPr txBox="1"/>
          <p:nvPr/>
        </p:nvSpPr>
        <p:spPr>
          <a:xfrm>
            <a:off x="3234534" y="2916384"/>
            <a:ext cx="1183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3399FF"/>
                </a:solidFill>
              </a:rPr>
              <a:t>key-group-1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22832D-3CE4-097E-D91C-78FEFF1EB792}"/>
              </a:ext>
            </a:extLst>
          </p:cNvPr>
          <p:cNvSpPr/>
          <p:nvPr/>
        </p:nvSpPr>
        <p:spPr>
          <a:xfrm>
            <a:off x="3048000" y="2909131"/>
            <a:ext cx="1511333" cy="316218"/>
          </a:xfrm>
          <a:prstGeom prst="rect">
            <a:avLst/>
          </a:prstGeom>
          <a:noFill/>
          <a:ln>
            <a:solidFill>
              <a:srgbClr val="3399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BD81AE-23C0-C7DA-2DD3-1AEBDAC80E5D}"/>
              </a:ext>
            </a:extLst>
          </p:cNvPr>
          <p:cNvSpPr/>
          <p:nvPr/>
        </p:nvSpPr>
        <p:spPr>
          <a:xfrm>
            <a:off x="4865489" y="3480631"/>
            <a:ext cx="1611511" cy="862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F77C8-2DFD-1927-E683-CDF761350DD2}"/>
              </a:ext>
            </a:extLst>
          </p:cNvPr>
          <p:cNvSpPr txBox="1"/>
          <p:nvPr/>
        </p:nvSpPr>
        <p:spPr>
          <a:xfrm>
            <a:off x="4940725" y="3509301"/>
            <a:ext cx="1441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lag ]</a:t>
            </a:r>
          </a:p>
          <a:p>
            <a:pPr algn="ctr"/>
            <a:r>
              <a:rPr lang="en-US" sz="1600" dirty="0"/>
              <a:t>ieee8023adLag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8FE8EC-A594-74FB-141F-F1A5F901E931}"/>
              </a:ext>
            </a:extLst>
          </p:cNvPr>
          <p:cNvSpPr/>
          <p:nvPr/>
        </p:nvSpPr>
        <p:spPr>
          <a:xfrm>
            <a:off x="1143000" y="3505200"/>
            <a:ext cx="1611511" cy="862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32055-694B-B9D5-86A8-4B765169B3F2}"/>
              </a:ext>
            </a:extLst>
          </p:cNvPr>
          <p:cNvSpPr txBox="1"/>
          <p:nvPr/>
        </p:nvSpPr>
        <p:spPr>
          <a:xfrm>
            <a:off x="1218236" y="3533870"/>
            <a:ext cx="1441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lag ]</a:t>
            </a:r>
          </a:p>
          <a:p>
            <a:pPr algn="ctr"/>
            <a:r>
              <a:rPr lang="en-US" sz="1600" dirty="0"/>
              <a:t>ieee8023adLag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808AC4-DFC2-AC86-F2D7-68038186678C}"/>
              </a:ext>
            </a:extLst>
          </p:cNvPr>
          <p:cNvCxnSpPr>
            <a:cxnSpLocks/>
          </p:cNvCxnSpPr>
          <p:nvPr/>
        </p:nvCxnSpPr>
        <p:spPr>
          <a:xfrm>
            <a:off x="3657600" y="1828800"/>
            <a:ext cx="109937" cy="1807132"/>
          </a:xfrm>
          <a:prstGeom prst="line">
            <a:avLst/>
          </a:prstGeom>
          <a:ln w="25400">
            <a:solidFill>
              <a:srgbClr val="00B050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C4C7E90-86D8-DB89-ABE7-3728E12048D1}"/>
              </a:ext>
            </a:extLst>
          </p:cNvPr>
          <p:cNvCxnSpPr>
            <a:cxnSpLocks/>
          </p:cNvCxnSpPr>
          <p:nvPr/>
        </p:nvCxnSpPr>
        <p:spPr>
          <a:xfrm>
            <a:off x="3886200" y="2819400"/>
            <a:ext cx="41912" cy="1012983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062B504-D34B-27E0-94C5-7972A22FE3FD}"/>
              </a:ext>
            </a:extLst>
          </p:cNvPr>
          <p:cNvSpPr/>
          <p:nvPr/>
        </p:nvSpPr>
        <p:spPr>
          <a:xfrm>
            <a:off x="405772" y="4724400"/>
            <a:ext cx="1921466" cy="1354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381580-501B-6D01-8EF6-BA3449E4E830}"/>
              </a:ext>
            </a:extLst>
          </p:cNvPr>
          <p:cNvSpPr txBox="1"/>
          <p:nvPr/>
        </p:nvSpPr>
        <p:spPr>
          <a:xfrm>
            <a:off x="381000" y="4759411"/>
            <a:ext cx="194623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inhibit-bridge-port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</a:t>
            </a:r>
            <a:r>
              <a:rPr lang="en-US" sz="1600" dirty="0" err="1">
                <a:solidFill>
                  <a:srgbClr val="3399FF"/>
                </a:solidFill>
              </a:rPr>
              <a:t>aggport</a:t>
            </a:r>
            <a:r>
              <a:rPr lang="en-US" sz="1600" dirty="0">
                <a:solidFill>
                  <a:srgbClr val="3399FF"/>
                </a:solidFill>
              </a:rPr>
              <a:t>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6EF3519-737C-9B3A-B3E0-EE061DA154CA}"/>
              </a:ext>
            </a:extLst>
          </p:cNvPr>
          <p:cNvCxnSpPr>
            <a:cxnSpLocks/>
          </p:cNvCxnSpPr>
          <p:nvPr/>
        </p:nvCxnSpPr>
        <p:spPr>
          <a:xfrm flipH="1">
            <a:off x="1551008" y="3124200"/>
            <a:ext cx="1871354" cy="1981200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1BD8B2-5718-44DE-00DF-95B2010EE94C}"/>
              </a:ext>
            </a:extLst>
          </p:cNvPr>
          <p:cNvCxnSpPr>
            <a:cxnSpLocks/>
          </p:cNvCxnSpPr>
          <p:nvPr/>
        </p:nvCxnSpPr>
        <p:spPr>
          <a:xfrm flipH="1">
            <a:off x="2066506" y="3124200"/>
            <a:ext cx="1176448" cy="815865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E61FC7B-515A-CC8A-4061-BA79409BEEEC}"/>
              </a:ext>
            </a:extLst>
          </p:cNvPr>
          <p:cNvCxnSpPr>
            <a:cxnSpLocks/>
          </p:cNvCxnSpPr>
          <p:nvPr/>
        </p:nvCxnSpPr>
        <p:spPr>
          <a:xfrm flipH="1">
            <a:off x="1524000" y="4385597"/>
            <a:ext cx="222241" cy="338803"/>
          </a:xfrm>
          <a:prstGeom prst="line">
            <a:avLst/>
          </a:prstGeom>
          <a:ln w="38100">
            <a:solidFill>
              <a:srgbClr val="3399FF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peech Bubble: Rectangle with Corners Rounded 48">
            <a:extLst>
              <a:ext uri="{FF2B5EF4-FFF2-40B4-BE49-F238E27FC236}">
                <a16:creationId xmlns:a16="http://schemas.microsoft.com/office/drawing/2014/main" id="{9F77AF23-DD7F-39EF-258D-173D28203816}"/>
              </a:ext>
            </a:extLst>
          </p:cNvPr>
          <p:cNvSpPr/>
          <p:nvPr/>
        </p:nvSpPr>
        <p:spPr>
          <a:xfrm>
            <a:off x="304800" y="2409732"/>
            <a:ext cx="1752600" cy="638268"/>
          </a:xfrm>
          <a:prstGeom prst="wedgeRoundRectCallout">
            <a:avLst>
              <a:gd name="adj1" fmla="val -6948"/>
              <a:gd name="adj2" fmla="val 37671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Link Aggregation variation 2 </a:t>
            </a:r>
          </a:p>
        </p:txBody>
      </p:sp>
      <p:sp>
        <p:nvSpPr>
          <p:cNvPr id="50" name="Speech Bubble: Rectangle with Corners Rounded 49">
            <a:extLst>
              <a:ext uri="{FF2B5EF4-FFF2-40B4-BE49-F238E27FC236}">
                <a16:creationId xmlns:a16="http://schemas.microsoft.com/office/drawing/2014/main" id="{9B1E241B-5B25-701D-0850-1C483C77A29E}"/>
              </a:ext>
            </a:extLst>
          </p:cNvPr>
          <p:cNvSpPr/>
          <p:nvPr/>
        </p:nvSpPr>
        <p:spPr>
          <a:xfrm>
            <a:off x="304800" y="2409732"/>
            <a:ext cx="1752600" cy="638268"/>
          </a:xfrm>
          <a:prstGeom prst="wedgeRoundRectCallout">
            <a:avLst>
              <a:gd name="adj1" fmla="val 105725"/>
              <a:gd name="adj2" fmla="val 56662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Link Aggregation variation 2 </a:t>
            </a:r>
          </a:p>
        </p:txBody>
      </p:sp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1188D951-620F-ABE8-D27B-E67E9DA76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139073"/>
              </p:ext>
            </p:extLst>
          </p:nvPr>
        </p:nvGraphicFramePr>
        <p:xfrm>
          <a:off x="6858000" y="316505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14400" imgH="771525" progId="Package">
                  <p:embed/>
                </p:oleObj>
              </mc:Choice>
              <mc:Fallback>
                <p:oleObj name="Packager Shell Object" showAsIcon="1" r:id="rId2" imgW="914400" imgH="77152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0" y="316505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54A27C46-67FA-5AA6-3897-0816445935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218002"/>
              </p:ext>
            </p:extLst>
          </p:nvPr>
        </p:nvGraphicFramePr>
        <p:xfrm>
          <a:off x="7468564" y="387262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914400" imgH="771525" progId="Package">
                  <p:embed/>
                </p:oleObj>
              </mc:Choice>
              <mc:Fallback>
                <p:oleObj name="Packager Shell Object" showAsIcon="1" r:id="rId4" imgW="914400" imgH="77152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68564" y="387262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7452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AD511-52CC-1743-513D-B1314BA6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Plug-and-Play Link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F50BC-B047-B487-269C-E4DAE7EB1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Allow the configuration to adapt to the cabling, rather than requiring the cabling to conform to the configuration.</a:t>
            </a:r>
          </a:p>
          <a:p>
            <a:pPr lvl="1"/>
            <a:r>
              <a:rPr lang="en-US" sz="2000" dirty="0"/>
              <a:t>Use when ports are functionally equivalent.</a:t>
            </a:r>
          </a:p>
          <a:p>
            <a:pPr lvl="2"/>
            <a:r>
              <a:rPr lang="en-US" sz="1600" dirty="0"/>
              <a:t>This is often the case with bridges, and for at least a subset of ports on other devices.</a:t>
            </a:r>
          </a:p>
          <a:p>
            <a:pPr lvl="1"/>
            <a:r>
              <a:rPr lang="en-US" sz="2000" dirty="0"/>
              <a:t>LACP automatically forms a LAG when two or more ports are connected to the same device (and that device allows aggregation).</a:t>
            </a:r>
          </a:p>
          <a:p>
            <a:pPr lvl="1"/>
            <a:r>
              <a:rPr lang="en-US" sz="2000" dirty="0"/>
              <a:t>Simplifies configuration.</a:t>
            </a:r>
          </a:p>
          <a:p>
            <a:pPr lvl="1"/>
            <a:r>
              <a:rPr lang="en-US" sz="2000" dirty="0"/>
              <a:t>Reduces issues with mis-cabling.</a:t>
            </a:r>
          </a:p>
          <a:p>
            <a:r>
              <a:rPr lang="en-US" sz="2400" dirty="0"/>
              <a:t>All interfaces (that are augmented with “</a:t>
            </a:r>
            <a:r>
              <a:rPr lang="en-US" sz="2400" dirty="0" err="1"/>
              <a:t>aggport</a:t>
            </a:r>
            <a:r>
              <a:rPr lang="en-US" sz="2400" dirty="0"/>
              <a:t>” or “lag” containers) reference the same key-group.</a:t>
            </a:r>
          </a:p>
          <a:p>
            <a:pPr lvl="1"/>
            <a:r>
              <a:rPr lang="en-US" sz="2000" dirty="0"/>
              <a:t>That key-group has the “aggregation” bit in the “actor-admin-state” set.</a:t>
            </a:r>
          </a:p>
          <a:p>
            <a:pPr lvl="2"/>
            <a:r>
              <a:rPr lang="en-US" sz="1600" dirty="0"/>
              <a:t>This bit is set by default, so no explicit configuration is required.</a:t>
            </a:r>
          </a:p>
        </p:txBody>
      </p:sp>
    </p:spTree>
    <p:extLst>
      <p:ext uri="{BB962C8B-B14F-4D97-AF65-F5344CB8AC3E}">
        <p14:creationId xmlns:p14="http://schemas.microsoft.com/office/powerpoint/2010/main" val="2382940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62FB2-A0C2-FA6A-A02A-3D30E4488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0475C785-82D2-AB11-D507-BC77999D8618}"/>
              </a:ext>
            </a:extLst>
          </p:cNvPr>
          <p:cNvSpPr/>
          <p:nvPr/>
        </p:nvSpPr>
        <p:spPr>
          <a:xfrm>
            <a:off x="2541608" y="4706772"/>
            <a:ext cx="1921466" cy="1354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E9BA75-893B-05A2-27F2-3238ACBEFAE5}"/>
              </a:ext>
            </a:extLst>
          </p:cNvPr>
          <p:cNvSpPr txBox="1"/>
          <p:nvPr/>
        </p:nvSpPr>
        <p:spPr>
          <a:xfrm>
            <a:off x="2516836" y="4741783"/>
            <a:ext cx="194623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inhibit-bridge-port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</a:t>
            </a:r>
            <a:r>
              <a:rPr lang="en-US" sz="1600" dirty="0" err="1">
                <a:solidFill>
                  <a:srgbClr val="3399FF"/>
                </a:solidFill>
              </a:rPr>
              <a:t>aggport</a:t>
            </a:r>
            <a:r>
              <a:rPr lang="en-US" sz="1600" dirty="0">
                <a:solidFill>
                  <a:srgbClr val="3399FF"/>
                </a:solidFill>
              </a:rPr>
              <a:t>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MAC-2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41A3286-C444-A4EC-1399-E5ACF2CC5E4B}"/>
              </a:ext>
            </a:extLst>
          </p:cNvPr>
          <p:cNvCxnSpPr>
            <a:cxnSpLocks/>
          </p:cNvCxnSpPr>
          <p:nvPr/>
        </p:nvCxnSpPr>
        <p:spPr>
          <a:xfrm flipH="1">
            <a:off x="2112951" y="2150982"/>
            <a:ext cx="1266856" cy="1506618"/>
          </a:xfrm>
          <a:prstGeom prst="line">
            <a:avLst/>
          </a:prstGeom>
          <a:ln w="25400">
            <a:solidFill>
              <a:srgbClr val="00B050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2674A8D-6714-26E0-E16F-AC5D710B21B7}"/>
              </a:ext>
            </a:extLst>
          </p:cNvPr>
          <p:cNvCxnSpPr>
            <a:cxnSpLocks/>
          </p:cNvCxnSpPr>
          <p:nvPr/>
        </p:nvCxnSpPr>
        <p:spPr>
          <a:xfrm>
            <a:off x="4265408" y="2129314"/>
            <a:ext cx="1476257" cy="1506618"/>
          </a:xfrm>
          <a:prstGeom prst="line">
            <a:avLst/>
          </a:prstGeom>
          <a:ln w="25400">
            <a:solidFill>
              <a:srgbClr val="00B050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C4D3DF1-CFFE-358E-B0D2-AE3DAD3B8B51}"/>
              </a:ext>
            </a:extLst>
          </p:cNvPr>
          <p:cNvCxnSpPr>
            <a:cxnSpLocks/>
          </p:cNvCxnSpPr>
          <p:nvPr/>
        </p:nvCxnSpPr>
        <p:spPr>
          <a:xfrm flipH="1">
            <a:off x="789008" y="6400800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DBB8CE7-EEC8-F1EB-90F9-595E88CF7A8E}"/>
              </a:ext>
            </a:extLst>
          </p:cNvPr>
          <p:cNvCxnSpPr>
            <a:cxnSpLocks/>
          </p:cNvCxnSpPr>
          <p:nvPr/>
        </p:nvCxnSpPr>
        <p:spPr>
          <a:xfrm>
            <a:off x="1551008" y="60960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0A584ED-D121-A23F-8AF5-7D87B100D457}"/>
              </a:ext>
            </a:extLst>
          </p:cNvPr>
          <p:cNvCxnSpPr>
            <a:cxnSpLocks/>
          </p:cNvCxnSpPr>
          <p:nvPr/>
        </p:nvCxnSpPr>
        <p:spPr>
          <a:xfrm flipH="1">
            <a:off x="5742008" y="6400798"/>
            <a:ext cx="738523" cy="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38D405D-BFB7-99B9-A9EE-90DD380112B1}"/>
              </a:ext>
            </a:extLst>
          </p:cNvPr>
          <p:cNvCxnSpPr>
            <a:cxnSpLocks/>
          </p:cNvCxnSpPr>
          <p:nvPr/>
        </p:nvCxnSpPr>
        <p:spPr>
          <a:xfrm flipH="1">
            <a:off x="3837008" y="6553200"/>
            <a:ext cx="2667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C851E8CD-C4E8-83A2-C078-C40C88F190A6}"/>
              </a:ext>
            </a:extLst>
          </p:cNvPr>
          <p:cNvSpPr/>
          <p:nvPr/>
        </p:nvSpPr>
        <p:spPr>
          <a:xfrm>
            <a:off x="6275408" y="6248400"/>
            <a:ext cx="76200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0ABB22E-7B49-911B-E3FC-0450568B1592}"/>
              </a:ext>
            </a:extLst>
          </p:cNvPr>
          <p:cNvCxnSpPr>
            <a:cxnSpLocks/>
          </p:cNvCxnSpPr>
          <p:nvPr/>
        </p:nvCxnSpPr>
        <p:spPr>
          <a:xfrm>
            <a:off x="5742008" y="6096000"/>
            <a:ext cx="0" cy="30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D6FB982-ADCB-99CB-2200-A2EA56C88C56}"/>
              </a:ext>
            </a:extLst>
          </p:cNvPr>
          <p:cNvCxnSpPr>
            <a:cxnSpLocks/>
          </p:cNvCxnSpPr>
          <p:nvPr/>
        </p:nvCxnSpPr>
        <p:spPr>
          <a:xfrm>
            <a:off x="3837008" y="6096000"/>
            <a:ext cx="0" cy="4572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BF13637-6C8E-5E77-F7E3-3558B88035D1}"/>
              </a:ext>
            </a:extLst>
          </p:cNvPr>
          <p:cNvSpPr/>
          <p:nvPr/>
        </p:nvSpPr>
        <p:spPr>
          <a:xfrm>
            <a:off x="4623780" y="4706772"/>
            <a:ext cx="1921466" cy="1354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C6BC5C-245A-2930-D90A-51C805E45C3C}"/>
              </a:ext>
            </a:extLst>
          </p:cNvPr>
          <p:cNvSpPr txBox="1"/>
          <p:nvPr/>
        </p:nvSpPr>
        <p:spPr>
          <a:xfrm>
            <a:off x="4599008" y="4741783"/>
            <a:ext cx="194623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inhibit-bridge-port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</a:t>
            </a:r>
            <a:r>
              <a:rPr lang="en-US" sz="1600" dirty="0" err="1">
                <a:solidFill>
                  <a:srgbClr val="3399FF"/>
                </a:solidFill>
              </a:rPr>
              <a:t>aggport</a:t>
            </a:r>
            <a:r>
              <a:rPr lang="en-US" sz="1600" dirty="0">
                <a:solidFill>
                  <a:srgbClr val="3399FF"/>
                </a:solidFill>
              </a:rPr>
              <a:t>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MAC-3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AAC0E91-1E91-6154-4FBE-5AFC2D4218F8}"/>
              </a:ext>
            </a:extLst>
          </p:cNvPr>
          <p:cNvCxnSpPr>
            <a:cxnSpLocks/>
          </p:cNvCxnSpPr>
          <p:nvPr/>
        </p:nvCxnSpPr>
        <p:spPr>
          <a:xfrm>
            <a:off x="4265408" y="4364867"/>
            <a:ext cx="1248000" cy="359533"/>
          </a:xfrm>
          <a:prstGeom prst="line">
            <a:avLst/>
          </a:prstGeom>
          <a:ln w="38100">
            <a:solidFill>
              <a:srgbClr val="3399FF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CEF7EE1-76A4-EF6E-F4D5-1BC38277A3C9}"/>
              </a:ext>
            </a:extLst>
          </p:cNvPr>
          <p:cNvCxnSpPr>
            <a:cxnSpLocks/>
          </p:cNvCxnSpPr>
          <p:nvPr/>
        </p:nvCxnSpPr>
        <p:spPr>
          <a:xfrm flipH="1">
            <a:off x="3587759" y="4364867"/>
            <a:ext cx="222241" cy="338803"/>
          </a:xfrm>
          <a:prstGeom prst="line">
            <a:avLst/>
          </a:prstGeom>
          <a:ln w="38100">
            <a:solidFill>
              <a:srgbClr val="3399FF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2738930-FE39-39A5-4DA1-F687A7061565}"/>
              </a:ext>
            </a:extLst>
          </p:cNvPr>
          <p:cNvSpPr/>
          <p:nvPr/>
        </p:nvSpPr>
        <p:spPr>
          <a:xfrm>
            <a:off x="2929687" y="2370024"/>
            <a:ext cx="1752597" cy="941585"/>
          </a:xfrm>
          <a:prstGeom prst="rect">
            <a:avLst/>
          </a:prstGeom>
          <a:noFill/>
          <a:ln>
            <a:solidFill>
              <a:srgbClr val="33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710E6A-A5F0-E0E1-993E-0EE2DCEA01B9}"/>
              </a:ext>
            </a:extLst>
          </p:cNvPr>
          <p:cNvSpPr/>
          <p:nvPr/>
        </p:nvSpPr>
        <p:spPr>
          <a:xfrm>
            <a:off x="3151208" y="2656948"/>
            <a:ext cx="1266860" cy="276256"/>
          </a:xfrm>
          <a:prstGeom prst="rect">
            <a:avLst/>
          </a:prstGeom>
          <a:noFill/>
          <a:ln>
            <a:solidFill>
              <a:srgbClr val="3399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D77E5C-6125-793B-B1A1-ADA893719937}"/>
              </a:ext>
            </a:extLst>
          </p:cNvPr>
          <p:cNvSpPr txBox="1"/>
          <p:nvPr/>
        </p:nvSpPr>
        <p:spPr>
          <a:xfrm>
            <a:off x="3211193" y="2633246"/>
            <a:ext cx="113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3399FF"/>
                </a:solidFill>
              </a:rPr>
              <a:t>agg</a:t>
            </a:r>
            <a:r>
              <a:rPr lang="en-US" sz="1600" dirty="0">
                <a:solidFill>
                  <a:srgbClr val="3399FF"/>
                </a:solidFill>
              </a:rPr>
              <a:t>-system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3737C-5070-1100-C714-29BF416FBB35}"/>
              </a:ext>
            </a:extLst>
          </p:cNvPr>
          <p:cNvSpPr txBox="1"/>
          <p:nvPr/>
        </p:nvSpPr>
        <p:spPr>
          <a:xfrm>
            <a:off x="3402617" y="2329936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3399FF"/>
                </a:solidFill>
              </a:rPr>
              <a:t>linkagg</a:t>
            </a:r>
            <a:endParaRPr lang="en-US" sz="1600" dirty="0">
              <a:solidFill>
                <a:srgbClr val="3399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A78C07-5535-106C-FD16-B7451CD7F527}"/>
              </a:ext>
            </a:extLst>
          </p:cNvPr>
          <p:cNvSpPr/>
          <p:nvPr/>
        </p:nvSpPr>
        <p:spPr>
          <a:xfrm>
            <a:off x="2922610" y="1257802"/>
            <a:ext cx="1752597" cy="11259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BE10B4-9CCD-429A-FC12-FB0BE9E2A8E5}"/>
              </a:ext>
            </a:extLst>
          </p:cNvPr>
          <p:cNvSpPr/>
          <p:nvPr/>
        </p:nvSpPr>
        <p:spPr>
          <a:xfrm>
            <a:off x="3062872" y="1610133"/>
            <a:ext cx="1459938" cy="697467"/>
          </a:xfrm>
          <a:prstGeom prst="rect">
            <a:avLst/>
          </a:prstGeom>
          <a:noFill/>
          <a:ln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34680E-8BFE-3EB3-D68A-336A62D77B28}"/>
              </a:ext>
            </a:extLst>
          </p:cNvPr>
          <p:cNvSpPr txBox="1"/>
          <p:nvPr/>
        </p:nvSpPr>
        <p:spPr>
          <a:xfrm>
            <a:off x="3397300" y="1606534"/>
            <a:ext cx="79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bridge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90F235-AD79-7B7C-F231-663BA989E848}"/>
              </a:ext>
            </a:extLst>
          </p:cNvPr>
          <p:cNvSpPr/>
          <p:nvPr/>
        </p:nvSpPr>
        <p:spPr>
          <a:xfrm>
            <a:off x="3167425" y="1912826"/>
            <a:ext cx="1266860" cy="304798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F66CD6-F8D9-0E07-965E-981C7292D39E}"/>
              </a:ext>
            </a:extLst>
          </p:cNvPr>
          <p:cNvSpPr txBox="1"/>
          <p:nvPr/>
        </p:nvSpPr>
        <p:spPr>
          <a:xfrm>
            <a:off x="3227597" y="1879070"/>
            <a:ext cx="1142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component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88D02D-E759-5F68-89B3-6D111F092EC8}"/>
              </a:ext>
            </a:extLst>
          </p:cNvPr>
          <p:cNvSpPr txBox="1"/>
          <p:nvPr/>
        </p:nvSpPr>
        <p:spPr>
          <a:xfrm>
            <a:off x="3379807" y="1240800"/>
            <a:ext cx="79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bridges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452981-5C5E-FB32-0400-BB81FC5E51FA}"/>
              </a:ext>
            </a:extLst>
          </p:cNvPr>
          <p:cNvSpPr txBox="1"/>
          <p:nvPr/>
        </p:nvSpPr>
        <p:spPr>
          <a:xfrm>
            <a:off x="2638867" y="228600"/>
            <a:ext cx="234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Box 1b YANG Model</a:t>
            </a:r>
          </a:p>
          <a:p>
            <a:pPr algn="ctr"/>
            <a:r>
              <a:rPr lang="en-US" dirty="0"/>
              <a:t>Plug-and-Play variation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D27A901-E478-815A-D529-EA7686E158A7}"/>
              </a:ext>
            </a:extLst>
          </p:cNvPr>
          <p:cNvCxnSpPr>
            <a:cxnSpLocks/>
          </p:cNvCxnSpPr>
          <p:nvPr/>
        </p:nvCxnSpPr>
        <p:spPr>
          <a:xfrm>
            <a:off x="4218008" y="3178017"/>
            <a:ext cx="1420792" cy="694612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E95CA4B-2916-B696-02B1-2F706B8BCB10}"/>
              </a:ext>
            </a:extLst>
          </p:cNvPr>
          <p:cNvCxnSpPr>
            <a:cxnSpLocks/>
          </p:cNvCxnSpPr>
          <p:nvPr/>
        </p:nvCxnSpPr>
        <p:spPr>
          <a:xfrm>
            <a:off x="4082074" y="3139100"/>
            <a:ext cx="1431334" cy="1966300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07E9DBF-E4C2-4619-DAC7-3A3B1241E07C}"/>
              </a:ext>
            </a:extLst>
          </p:cNvPr>
          <p:cNvCxnSpPr>
            <a:cxnSpLocks/>
          </p:cNvCxnSpPr>
          <p:nvPr/>
        </p:nvCxnSpPr>
        <p:spPr>
          <a:xfrm flipH="1">
            <a:off x="3379807" y="3140204"/>
            <a:ext cx="201593" cy="1965196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26C100AF-210C-96E1-5201-246DB303EA81}"/>
              </a:ext>
            </a:extLst>
          </p:cNvPr>
          <p:cNvSpPr/>
          <p:nvPr/>
        </p:nvSpPr>
        <p:spPr>
          <a:xfrm>
            <a:off x="3036689" y="3480631"/>
            <a:ext cx="1611511" cy="862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6ED3584-2205-4F21-91AF-1AD3C859F373}"/>
              </a:ext>
            </a:extLst>
          </p:cNvPr>
          <p:cNvSpPr txBox="1"/>
          <p:nvPr/>
        </p:nvSpPr>
        <p:spPr>
          <a:xfrm>
            <a:off x="3111925" y="3509301"/>
            <a:ext cx="1441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lag ]</a:t>
            </a:r>
          </a:p>
          <a:p>
            <a:pPr algn="ctr"/>
            <a:r>
              <a:rPr lang="en-US" sz="1600" dirty="0"/>
              <a:t>ieee8023adLag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2766D1-711D-2C87-7FD0-6DD96362B05B}"/>
              </a:ext>
            </a:extLst>
          </p:cNvPr>
          <p:cNvSpPr txBox="1"/>
          <p:nvPr/>
        </p:nvSpPr>
        <p:spPr>
          <a:xfrm>
            <a:off x="3317889" y="2916384"/>
            <a:ext cx="1016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3399FF"/>
                </a:solidFill>
              </a:rPr>
              <a:t>key-group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AEB87-3570-539E-1615-448A3BA2E68B}"/>
              </a:ext>
            </a:extLst>
          </p:cNvPr>
          <p:cNvSpPr/>
          <p:nvPr/>
        </p:nvSpPr>
        <p:spPr>
          <a:xfrm>
            <a:off x="3048000" y="2950199"/>
            <a:ext cx="1511333" cy="275149"/>
          </a:xfrm>
          <a:prstGeom prst="rect">
            <a:avLst/>
          </a:prstGeom>
          <a:noFill/>
          <a:ln>
            <a:solidFill>
              <a:srgbClr val="3399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1338F-47F7-C766-CB81-AA48583C3D04}"/>
              </a:ext>
            </a:extLst>
          </p:cNvPr>
          <p:cNvSpPr/>
          <p:nvPr/>
        </p:nvSpPr>
        <p:spPr>
          <a:xfrm>
            <a:off x="4865489" y="3480631"/>
            <a:ext cx="1611511" cy="862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EEBD3-A544-FF09-3DB2-8D7992E63998}"/>
              </a:ext>
            </a:extLst>
          </p:cNvPr>
          <p:cNvSpPr txBox="1"/>
          <p:nvPr/>
        </p:nvSpPr>
        <p:spPr>
          <a:xfrm>
            <a:off x="4940725" y="3509301"/>
            <a:ext cx="1441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lag ]</a:t>
            </a:r>
          </a:p>
          <a:p>
            <a:pPr algn="ctr"/>
            <a:r>
              <a:rPr lang="en-US" sz="1600" dirty="0"/>
              <a:t>ieee8023adLag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5E4015-85F6-F52F-CDAA-CA32698FD8F5}"/>
              </a:ext>
            </a:extLst>
          </p:cNvPr>
          <p:cNvSpPr/>
          <p:nvPr/>
        </p:nvSpPr>
        <p:spPr>
          <a:xfrm>
            <a:off x="1143000" y="3505200"/>
            <a:ext cx="1611511" cy="862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71F9B-4C9B-21FC-C98F-56FF54E7F28B}"/>
              </a:ext>
            </a:extLst>
          </p:cNvPr>
          <p:cNvSpPr txBox="1"/>
          <p:nvPr/>
        </p:nvSpPr>
        <p:spPr>
          <a:xfrm>
            <a:off x="1218236" y="3533870"/>
            <a:ext cx="1441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lag ]</a:t>
            </a:r>
          </a:p>
          <a:p>
            <a:pPr algn="ctr"/>
            <a:r>
              <a:rPr lang="en-US" sz="1600" dirty="0"/>
              <a:t>ieee8023adLag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04C86A-212A-9273-2A7D-137EE14A4011}"/>
              </a:ext>
            </a:extLst>
          </p:cNvPr>
          <p:cNvCxnSpPr>
            <a:cxnSpLocks/>
          </p:cNvCxnSpPr>
          <p:nvPr/>
        </p:nvCxnSpPr>
        <p:spPr>
          <a:xfrm>
            <a:off x="3699512" y="2129314"/>
            <a:ext cx="68025" cy="1506618"/>
          </a:xfrm>
          <a:prstGeom prst="line">
            <a:avLst/>
          </a:prstGeom>
          <a:ln w="25400">
            <a:solidFill>
              <a:srgbClr val="00B050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D18E46E-6D58-B120-2EFC-042A59331EA7}"/>
              </a:ext>
            </a:extLst>
          </p:cNvPr>
          <p:cNvCxnSpPr>
            <a:cxnSpLocks/>
          </p:cNvCxnSpPr>
          <p:nvPr/>
        </p:nvCxnSpPr>
        <p:spPr>
          <a:xfrm>
            <a:off x="3886200" y="3124200"/>
            <a:ext cx="31438" cy="748429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AB2DFAB-7062-883A-DBC0-1353BCBA20B3}"/>
              </a:ext>
            </a:extLst>
          </p:cNvPr>
          <p:cNvSpPr/>
          <p:nvPr/>
        </p:nvSpPr>
        <p:spPr>
          <a:xfrm>
            <a:off x="405772" y="4724400"/>
            <a:ext cx="1921466" cy="1354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B8B19E-39C6-8BFC-10DD-4BD292E12CF8}"/>
              </a:ext>
            </a:extLst>
          </p:cNvPr>
          <p:cNvSpPr txBox="1"/>
          <p:nvPr/>
        </p:nvSpPr>
        <p:spPr>
          <a:xfrm>
            <a:off x="381000" y="4759411"/>
            <a:ext cx="194623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[ inhibit-bridge-port ]</a:t>
            </a:r>
          </a:p>
          <a:p>
            <a:pPr algn="ctr"/>
            <a:r>
              <a:rPr lang="en-US" sz="1600" dirty="0">
                <a:solidFill>
                  <a:srgbClr val="3399FF"/>
                </a:solidFill>
              </a:rPr>
              <a:t>[ </a:t>
            </a:r>
            <a:r>
              <a:rPr lang="en-US" sz="1600" dirty="0" err="1">
                <a:solidFill>
                  <a:srgbClr val="3399FF"/>
                </a:solidFill>
              </a:rPr>
              <a:t>aggport</a:t>
            </a:r>
            <a:r>
              <a:rPr lang="en-US" sz="1600" dirty="0">
                <a:solidFill>
                  <a:srgbClr val="3399FF"/>
                </a:solidFill>
              </a:rPr>
              <a:t> ]</a:t>
            </a:r>
          </a:p>
          <a:p>
            <a:pPr algn="ctr"/>
            <a:r>
              <a:rPr lang="en-US" sz="1600" dirty="0"/>
              <a:t>[ ethernet ]</a:t>
            </a:r>
          </a:p>
          <a:p>
            <a:pPr algn="ctr"/>
            <a:r>
              <a:rPr lang="en-US" sz="1600" dirty="0"/>
              <a:t>ethernetCsmacd</a:t>
            </a:r>
          </a:p>
          <a:p>
            <a:pPr algn="ctr"/>
            <a:r>
              <a:rPr lang="en-US" dirty="0"/>
              <a:t>MAC-1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B315B2D-804A-54D0-3E7C-60870AE51F62}"/>
              </a:ext>
            </a:extLst>
          </p:cNvPr>
          <p:cNvCxnSpPr>
            <a:cxnSpLocks/>
          </p:cNvCxnSpPr>
          <p:nvPr/>
        </p:nvCxnSpPr>
        <p:spPr>
          <a:xfrm flipH="1">
            <a:off x="1551008" y="3124200"/>
            <a:ext cx="1871354" cy="1981200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F5DA828-4561-4C6A-663F-8DD6C6C4594D}"/>
              </a:ext>
            </a:extLst>
          </p:cNvPr>
          <p:cNvCxnSpPr>
            <a:cxnSpLocks/>
          </p:cNvCxnSpPr>
          <p:nvPr/>
        </p:nvCxnSpPr>
        <p:spPr>
          <a:xfrm flipH="1">
            <a:off x="2066506" y="3124200"/>
            <a:ext cx="1176448" cy="815865"/>
          </a:xfrm>
          <a:prstGeom prst="line">
            <a:avLst/>
          </a:prstGeom>
          <a:ln w="25400">
            <a:solidFill>
              <a:srgbClr val="3399FF"/>
            </a:solidFill>
            <a:prstDash val="sysDash"/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64C7BB-2782-A70C-49E0-5C283ACC7B12}"/>
              </a:ext>
            </a:extLst>
          </p:cNvPr>
          <p:cNvCxnSpPr>
            <a:cxnSpLocks/>
          </p:cNvCxnSpPr>
          <p:nvPr/>
        </p:nvCxnSpPr>
        <p:spPr>
          <a:xfrm flipH="1">
            <a:off x="1524000" y="4385597"/>
            <a:ext cx="222241" cy="338803"/>
          </a:xfrm>
          <a:prstGeom prst="line">
            <a:avLst/>
          </a:prstGeom>
          <a:ln w="38100">
            <a:solidFill>
              <a:srgbClr val="3399FF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AF782E15-F28C-D69F-F72B-90450EA6A9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484306"/>
              </p:ext>
            </p:extLst>
          </p:nvPr>
        </p:nvGraphicFramePr>
        <p:xfrm>
          <a:off x="6762535" y="353387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14400" imgH="771525" progId="Package">
                  <p:embed/>
                </p:oleObj>
              </mc:Choice>
              <mc:Fallback>
                <p:oleObj name="Packager Shell Object" showAsIcon="1" r:id="rId2" imgW="914400" imgH="77152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62535" y="353387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10AFE645-A800-A9DE-373D-D011FCE7DF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034022"/>
              </p:ext>
            </p:extLst>
          </p:nvPr>
        </p:nvGraphicFramePr>
        <p:xfrm>
          <a:off x="7514012" y="4262391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914400" imgH="771525" progId="Package">
                  <p:embed/>
                </p:oleObj>
              </mc:Choice>
              <mc:Fallback>
                <p:oleObj name="Packager Shell Object" showAsIcon="1" r:id="rId4" imgW="914400" imgH="77152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14012" y="4262391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B4997F44-0B2C-3790-80AC-C2678962BFB0}"/>
              </a:ext>
            </a:extLst>
          </p:cNvPr>
          <p:cNvSpPr/>
          <p:nvPr/>
        </p:nvSpPr>
        <p:spPr>
          <a:xfrm>
            <a:off x="5370736" y="1424947"/>
            <a:ext cx="3320625" cy="1689807"/>
          </a:xfrm>
          <a:prstGeom prst="wedgeRoundRectCallout">
            <a:avLst>
              <a:gd name="adj1" fmla="val -75448"/>
              <a:gd name="adj2" fmla="val 4702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Link Aggregation Plug-and-Play: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interfaces reference the same key-group (which has “aggregation” bit 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LACP will automatically form LAGs when two or more ports are connected to the same device.</a:t>
            </a:r>
          </a:p>
        </p:txBody>
      </p:sp>
    </p:spTree>
    <p:extLst>
      <p:ext uri="{BB962C8B-B14F-4D97-AF65-F5344CB8AC3E}">
        <p14:creationId xmlns:p14="http://schemas.microsoft.com/office/powerpoint/2010/main" val="1709496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80A9-2D06-CB1B-E562-E5C33E58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3C8292-6088-6CF2-C561-F6EC6B21BE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Back-up slides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6608BB4-4873-A03F-8C0D-058F43068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85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3646-4F6B-8D79-A1FD-E784E8FE4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Non-standard variation 2 – </a:t>
            </a:r>
            <a:br>
              <a:rPr lang="en-US" dirty="0"/>
            </a:br>
            <a:r>
              <a:rPr lang="en-US" dirty="0"/>
              <a:t>Implicit Aggregators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6EB03-F11B-B339-A71B-618D1E9FD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95800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The standard way to enable LACP on MAC-1 involves adding an ieee8023adLag interface</a:t>
            </a:r>
          </a:p>
          <a:p>
            <a:pPr lvl="1"/>
            <a:r>
              <a:rPr lang="en-US" sz="2000" dirty="0"/>
              <a:t>because the Link Aggregation standard only specifies attaching an Aggregation Port to higher layers through an intervening Aggregator.</a:t>
            </a:r>
          </a:p>
          <a:p>
            <a:pPr lvl="1"/>
            <a:r>
              <a:rPr lang="en-US" sz="2000" dirty="0"/>
              <a:t>When this is a solitary link, the Aggregator is basically a pass-through layer.</a:t>
            </a:r>
          </a:p>
          <a:p>
            <a:r>
              <a:rPr lang="en-US" sz="2400" dirty="0"/>
              <a:t>The YANG models will support a non-standard configuration short-cut: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Configure a key-group that only allows solitary links.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Do not introduce any Aggregators as members of this key-group.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Any MACs using this short-cut to enable LACP are augmented with both </a:t>
            </a:r>
            <a:r>
              <a:rPr lang="en-US" sz="2000" dirty="0" err="1"/>
              <a:t>aggport</a:t>
            </a:r>
            <a:r>
              <a:rPr lang="en-US" sz="2000" dirty="0"/>
              <a:t> and bridge-port containers.</a:t>
            </a:r>
          </a:p>
          <a:p>
            <a:pPr lvl="2"/>
            <a:r>
              <a:rPr lang="en-US" sz="1600" dirty="0"/>
              <a:t>The </a:t>
            </a:r>
            <a:r>
              <a:rPr lang="en-US" sz="1600" dirty="0" err="1"/>
              <a:t>aggport</a:t>
            </a:r>
            <a:r>
              <a:rPr lang="en-US" sz="1600" dirty="0"/>
              <a:t> container references the key-group that only allows solitary links.</a:t>
            </a:r>
          </a:p>
          <a:p>
            <a:r>
              <a:rPr lang="en-US" sz="2400" dirty="0"/>
              <a:t>Caveat:</a:t>
            </a:r>
          </a:p>
          <a:p>
            <a:pPr lvl="1"/>
            <a:r>
              <a:rPr lang="en-US" sz="2000" dirty="0"/>
              <a:t>The system must recognize this configuration and implement non-standard modifications to LACP that allow a solitary Aggregation Port to attach to higher-layer functionality without an intervening Aggregator.</a:t>
            </a:r>
          </a:p>
          <a:p>
            <a:r>
              <a:rPr lang="en-US" sz="2400" dirty="0"/>
              <a:t>Risks!</a:t>
            </a:r>
          </a:p>
          <a:p>
            <a:pPr lvl="1"/>
            <a:r>
              <a:rPr lang="en-US" sz="2000" dirty="0"/>
              <a:t>The YANG model will not prevent an </a:t>
            </a:r>
            <a:r>
              <a:rPr lang="en-US" sz="2000" dirty="0" err="1"/>
              <a:t>aggport</a:t>
            </a:r>
            <a:r>
              <a:rPr lang="en-US" sz="2000" dirty="0"/>
              <a:t> in this configuration from referencing a key-group that allows aggregation. If this happens there is a possibility this port will end up in a LAG with one or more other ports. This would create two paths between the MAC and the MAC Relay, through two different bridge-ports, that are both operational at the same time.  Since this is a non-standard implementation, the resulting behavior is unspecified and system-dependent, but unlikely to be desirable and likely to be very disruptive to the network!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9326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34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89994</TotalTime>
  <Words>1660</Words>
  <Application>Microsoft Office PowerPoint</Application>
  <PresentationFormat>On-screen Show (4:3)</PresentationFormat>
  <Paragraphs>248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Office Theme</vt:lpstr>
      <vt:lpstr>Packager Shell Object</vt:lpstr>
      <vt:lpstr>Package</vt:lpstr>
      <vt:lpstr>YANG models for Systems with Link Aggregation   </vt:lpstr>
      <vt:lpstr>Introduction</vt:lpstr>
      <vt:lpstr>Simple Example</vt:lpstr>
      <vt:lpstr>Assume the boxes are bridges</vt:lpstr>
      <vt:lpstr>PowerPoint Presentation</vt:lpstr>
      <vt:lpstr>PowerPoint Presentation</vt:lpstr>
      <vt:lpstr>Bridge Notes</vt:lpstr>
      <vt:lpstr>Link Aggregation in other Systems</vt:lpstr>
      <vt:lpstr>Details and Variations</vt:lpstr>
      <vt:lpstr>Link Aggregation variation 1</vt:lpstr>
      <vt:lpstr>Link Aggregation variation 2</vt:lpstr>
      <vt:lpstr>Box 1b variations 1 and 2  “baggy pants” diagram</vt:lpstr>
      <vt:lpstr>PowerPoint Presentation</vt:lpstr>
      <vt:lpstr>Plug-and-Play Link Aggregation</vt:lpstr>
      <vt:lpstr>PowerPoint Presentation</vt:lpstr>
      <vt:lpstr>Back-up slides</vt:lpstr>
      <vt:lpstr>Non-standard variation 2 –  Implicit Aggregators</vt:lpstr>
      <vt:lpstr>Thank You</vt:lpstr>
    </vt:vector>
  </TitlesOfParts>
  <Company>Stephen Haddock Consulting,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Haddock</dc:creator>
  <cp:lastModifiedBy>Scott Mansfield</cp:lastModifiedBy>
  <cp:revision>680</cp:revision>
  <cp:lastPrinted>2024-09-18T13:32:49Z</cp:lastPrinted>
  <dcterms:created xsi:type="dcterms:W3CDTF">2013-11-13T15:32:23Z</dcterms:created>
  <dcterms:modified xsi:type="dcterms:W3CDTF">2026-01-15T10:44:47Z</dcterms:modified>
</cp:coreProperties>
</file>